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f7d94e4da4ae5" /><Relationship Type="http://schemas.openxmlformats.org/officeDocument/2006/relationships/extended-properties" Target="/docProps/app.xml" Id="R4f4b19ed1db4465a" /><Relationship Type="http://schemas.openxmlformats.org/officeDocument/2006/relationships/officeDocument" Target="/ppt/presentation.xml" Id="Rd35063aeda1d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c046e0a1a4429"/>
  </p:sldMasterIdLst>
  <p:notesMasterIdLst>
    <p:notesMasterId xmlns:r="http://schemas.openxmlformats.org/officeDocument/2006/relationships" r:id="R2e7549f4776846e9"/>
  </p:notesMasterIdLst>
  <p:sldIdLst>
    <p:sldId xmlns:r="http://schemas.openxmlformats.org/officeDocument/2006/relationships" id="256" r:id="R6a26645c20684f88"/>
    <p:sldId xmlns:r="http://schemas.openxmlformats.org/officeDocument/2006/relationships" id="257" r:id="R4c1ff1e75ab04f97"/>
    <p:sldId xmlns:r="http://schemas.openxmlformats.org/officeDocument/2006/relationships" id="258" r:id="R10417b3705ae4cb9"/>
    <p:sldId xmlns:r="http://schemas.openxmlformats.org/officeDocument/2006/relationships" id="259" r:id="R08daa930b2844775"/>
    <p:sldId xmlns:r="http://schemas.openxmlformats.org/officeDocument/2006/relationships" id="260" r:id="Rc90d7a2b99834158"/>
    <p:sldId xmlns:r="http://schemas.openxmlformats.org/officeDocument/2006/relationships" id="261" r:id="Rc0db43900b9f4ae4"/>
    <p:sldId xmlns:r="http://schemas.openxmlformats.org/officeDocument/2006/relationships" id="262" r:id="Rf1f40e1bf4cc4080"/>
    <p:sldId xmlns:r="http://schemas.openxmlformats.org/officeDocument/2006/relationships" id="263" r:id="Ra21e78871b51475e"/>
    <p:sldId xmlns:r="http://schemas.openxmlformats.org/officeDocument/2006/relationships" id="264" r:id="R227352f61dea46f9"/>
    <p:sldId xmlns:r="http://schemas.openxmlformats.org/officeDocument/2006/relationships" id="265" r:id="Rbcf04abf33e14010"/>
    <p:sldId xmlns:r="http://schemas.openxmlformats.org/officeDocument/2006/relationships" id="266" r:id="R9e6f047177ae4a51"/>
    <p:sldId xmlns:r="http://schemas.openxmlformats.org/officeDocument/2006/relationships" id="267" r:id="R6e5c81dd028b4ea5"/>
    <p:sldId xmlns:r="http://schemas.openxmlformats.org/officeDocument/2006/relationships" id="268" r:id="Rb2638c8cfae24b63"/>
    <p:sldId xmlns:r="http://schemas.openxmlformats.org/officeDocument/2006/relationships" id="269" r:id="R4e708598d78148c6"/>
    <p:sldId xmlns:r="http://schemas.openxmlformats.org/officeDocument/2006/relationships" id="270" r:id="Re0818c65e7ef4a6c"/>
    <p:sldId xmlns:r="http://schemas.openxmlformats.org/officeDocument/2006/relationships" id="271" r:id="Reafc6d8009434a2f"/>
    <p:sldId xmlns:r="http://schemas.openxmlformats.org/officeDocument/2006/relationships" id="272" r:id="Rdda4a6a50cb84185"/>
    <p:sldId xmlns:r="http://schemas.openxmlformats.org/officeDocument/2006/relationships" id="273" r:id="R9db9ab65619d449e"/>
    <p:sldId xmlns:r="http://schemas.openxmlformats.org/officeDocument/2006/relationships" id="274" r:id="R59c4bf9972ec4436"/>
    <p:sldId xmlns:r="http://schemas.openxmlformats.org/officeDocument/2006/relationships" id="275" r:id="Re93d573576e84c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451deba7254b6e" /><Relationship Type="http://schemas.openxmlformats.org/officeDocument/2006/relationships/slideMaster" Target="/ppt/slideMasters/slideMaster1.xml" Id="R115c046e0a1a4429" /><Relationship Type="http://schemas.openxmlformats.org/officeDocument/2006/relationships/notesMaster" Target="/ppt/notesMasters/notesMaster1.xml" Id="R2e7549f4776846e9" /><Relationship Type="http://schemas.openxmlformats.org/officeDocument/2006/relationships/presProps" Target="/ppt/presProps.xml" Id="R224af261a5c84bf4" /><Relationship Type="http://schemas.openxmlformats.org/officeDocument/2006/relationships/tableStyles" Target="/ppt/tableStyles.xml" Id="Rec52352715c14c72" /><Relationship Type="http://schemas.openxmlformats.org/officeDocument/2006/relationships/slide" Target="/ppt/slides/slide1.xml" Id="R6a26645c20684f88" /><Relationship Type="http://schemas.openxmlformats.org/officeDocument/2006/relationships/slide" Target="/ppt/slides/slide2.xml" Id="R4c1ff1e75ab04f97" /><Relationship Type="http://schemas.openxmlformats.org/officeDocument/2006/relationships/slide" Target="/ppt/slides/slide3.xml" Id="R10417b3705ae4cb9" /><Relationship Type="http://schemas.openxmlformats.org/officeDocument/2006/relationships/slide" Target="/ppt/slides/slide4.xml" Id="R08daa930b2844775" /><Relationship Type="http://schemas.openxmlformats.org/officeDocument/2006/relationships/slide" Target="/ppt/slides/slide5.xml" Id="Rc90d7a2b99834158" /><Relationship Type="http://schemas.openxmlformats.org/officeDocument/2006/relationships/slide" Target="/ppt/slides/slide6.xml" Id="Rc0db43900b9f4ae4" /><Relationship Type="http://schemas.openxmlformats.org/officeDocument/2006/relationships/slide" Target="/ppt/slides/slide7.xml" Id="Rf1f40e1bf4cc4080" /><Relationship Type="http://schemas.openxmlformats.org/officeDocument/2006/relationships/slide" Target="/ppt/slides/slide8.xml" Id="Ra21e78871b51475e" /><Relationship Type="http://schemas.openxmlformats.org/officeDocument/2006/relationships/slide" Target="/ppt/slides/slide9.xml" Id="R227352f61dea46f9" /><Relationship Type="http://schemas.openxmlformats.org/officeDocument/2006/relationships/slide" Target="/ppt/slides/slide10.xml" Id="Rbcf04abf33e14010" /><Relationship Type="http://schemas.openxmlformats.org/officeDocument/2006/relationships/slide" Target="/ppt/slides/slide11.xml" Id="R9e6f047177ae4a51" /><Relationship Type="http://schemas.openxmlformats.org/officeDocument/2006/relationships/slide" Target="/ppt/slides/slide12.xml" Id="R6e5c81dd028b4ea5" /><Relationship Type="http://schemas.openxmlformats.org/officeDocument/2006/relationships/slide" Target="/ppt/slides/slide13.xml" Id="Rb2638c8cfae24b63" /><Relationship Type="http://schemas.openxmlformats.org/officeDocument/2006/relationships/slide" Target="/ppt/slides/slide14.xml" Id="R4e708598d78148c6" /><Relationship Type="http://schemas.openxmlformats.org/officeDocument/2006/relationships/slide" Target="/ppt/slides/slide15.xml" Id="Re0818c65e7ef4a6c" /><Relationship Type="http://schemas.openxmlformats.org/officeDocument/2006/relationships/slide" Target="/ppt/slides/slide16.xml" Id="Reafc6d8009434a2f" /><Relationship Type="http://schemas.openxmlformats.org/officeDocument/2006/relationships/slide" Target="/ppt/slides/slide17.xml" Id="Rdda4a6a50cb84185" /><Relationship Type="http://schemas.openxmlformats.org/officeDocument/2006/relationships/slide" Target="/ppt/slides/slide18.xml" Id="R9db9ab65619d449e" /><Relationship Type="http://schemas.openxmlformats.org/officeDocument/2006/relationships/slide" Target="/ppt/slides/slide19.xml" Id="R59c4bf9972ec4436" /><Relationship Type="http://schemas.openxmlformats.org/officeDocument/2006/relationships/slide" Target="/ppt/slides/slide20.xml" Id="Re93d573576e84c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6e1c927c3f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9958b498240cc" /><Relationship Type="http://schemas.openxmlformats.org/officeDocument/2006/relationships/notesMaster" Target="/ppt/notesMasters/notesMaster1.xml" Id="R525d99601e6646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3c9e3503b4438" /><Relationship Type="http://schemas.openxmlformats.org/officeDocument/2006/relationships/notesMaster" Target="/ppt/notesMasters/notesMaster1.xml" Id="R541274d410fc4c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790370e464463" /><Relationship Type="http://schemas.openxmlformats.org/officeDocument/2006/relationships/notesMaster" Target="/ppt/notesMasters/notesMaster1.xml" Id="R04ce94e37cdf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e6b7c89a94966" /><Relationship Type="http://schemas.openxmlformats.org/officeDocument/2006/relationships/notesMaster" Target="/ppt/notesMasters/notesMaster1.xml" Id="Rebc7859e870e4f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a6b80d826428d" /><Relationship Type="http://schemas.openxmlformats.org/officeDocument/2006/relationships/notesMaster" Target="/ppt/notesMasters/notesMaster1.xml" Id="R30806fff08e94b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6254c9cde842cb" /><Relationship Type="http://schemas.openxmlformats.org/officeDocument/2006/relationships/notesMaster" Target="/ppt/notesMasters/notesMaster1.xml" Id="R09a4d895b16f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e7165b3874d2c" /><Relationship Type="http://schemas.openxmlformats.org/officeDocument/2006/relationships/notesMaster" Target="/ppt/notesMasters/notesMaster1.xml" Id="R9be6ff46ba7441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a92a311216449b" /><Relationship Type="http://schemas.openxmlformats.org/officeDocument/2006/relationships/notesMaster" Target="/ppt/notesMasters/notesMaster1.xml" Id="R6a5b02115638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3e451dd8bd4172" /><Relationship Type="http://schemas.openxmlformats.org/officeDocument/2006/relationships/notesMaster" Target="/ppt/notesMasters/notesMaster1.xml" Id="R128de726a80f40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967a1a5484ed5" /><Relationship Type="http://schemas.openxmlformats.org/officeDocument/2006/relationships/notesMaster" Target="/ppt/notesMasters/notesMaster1.xml" Id="Re982aac2864a4f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2c69246f6e45bd" /><Relationship Type="http://schemas.openxmlformats.org/officeDocument/2006/relationships/notesMaster" Target="/ppt/notesMasters/notesMaster1.xml" Id="R025be6936e0142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68845f403b4e8b" /><Relationship Type="http://schemas.openxmlformats.org/officeDocument/2006/relationships/notesMaster" Target="/ppt/notesMasters/notesMaster1.xml" Id="Rb8828e245b5c42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541f7de0fd40eb" /><Relationship Type="http://schemas.openxmlformats.org/officeDocument/2006/relationships/notesMaster" Target="/ppt/notesMasters/notesMaster1.xml" Id="R5116b7059d2f41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2166c814e14ccc" /><Relationship Type="http://schemas.openxmlformats.org/officeDocument/2006/relationships/notesMaster" Target="/ppt/notesMasters/notesMaster1.xml" Id="R6b699e4695644a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6a7f116b954419" /><Relationship Type="http://schemas.openxmlformats.org/officeDocument/2006/relationships/notesMaster" Target="/ppt/notesMasters/notesMaster1.xml" Id="R3849c94ee21a4e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e9304033ae4318" /><Relationship Type="http://schemas.openxmlformats.org/officeDocument/2006/relationships/notesMaster" Target="/ppt/notesMasters/notesMaster1.xml" Id="Rd4c216ea9b5548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8de9fa16ee438e" /><Relationship Type="http://schemas.openxmlformats.org/officeDocument/2006/relationships/notesMaster" Target="/ppt/notesMasters/notesMaster1.xml" Id="Re7e65ccf166c4b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bbefb1698c41f1" /><Relationship Type="http://schemas.openxmlformats.org/officeDocument/2006/relationships/notesMaster" Target="/ppt/notesMasters/notesMaster1.xml" Id="R230ee7fd688346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25f672bd524d58" /><Relationship Type="http://schemas.openxmlformats.org/officeDocument/2006/relationships/notesMaster" Target="/ppt/notesMasters/notesMaster1.xml" Id="Ra0aba54af51c40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0e77e40e684d35" /><Relationship Type="http://schemas.openxmlformats.org/officeDocument/2006/relationships/notesMaster" Target="/ppt/notesMasters/notesMaster1.xml" Id="R9ca3ce97e31c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a3be32be6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4d854c62a4544" /><Relationship Type="http://schemas.openxmlformats.org/officeDocument/2006/relationships/slideLayout" Target="/ppt/slideLayouts/slideLayout1.xml" Id="R8a98fc18b4414a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8fc18b4414a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3e7f66b7448a3" /><Relationship Type="http://schemas.openxmlformats.org/officeDocument/2006/relationships/notesSlide" Target="/ppt/notesSlides/notesSlide1.xml" Id="R1b75631ae5904f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facaf504f493f" /><Relationship Type="http://schemas.openxmlformats.org/officeDocument/2006/relationships/notesSlide" Target="/ppt/notesSlides/notesSlide2.xml" Id="R950cb4d9674f40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a1d3aeaeb47da" /><Relationship Type="http://schemas.openxmlformats.org/officeDocument/2006/relationships/notesSlide" Target="/ppt/notesSlides/notesSlide3.xml" Id="R9798e03963d949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425044df047fe" /><Relationship Type="http://schemas.openxmlformats.org/officeDocument/2006/relationships/notesSlide" Target="/ppt/notesSlides/notesSlide4.xml" Id="R50f3fb347403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f26fc7e714cee" /><Relationship Type="http://schemas.openxmlformats.org/officeDocument/2006/relationships/notesSlide" Target="/ppt/notesSlides/notesSlide5.xml" Id="R73abc514d38047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a8bd2e48c493b" /><Relationship Type="http://schemas.openxmlformats.org/officeDocument/2006/relationships/notesSlide" Target="/ppt/notesSlides/notesSlide6.xml" Id="R431cc871f0c7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b7e9ddb5841a4" /><Relationship Type="http://schemas.openxmlformats.org/officeDocument/2006/relationships/notesSlide" Target="/ppt/notesSlides/notesSlide7.xml" Id="R5d1726b1e22d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617a7206f48db" /><Relationship Type="http://schemas.openxmlformats.org/officeDocument/2006/relationships/notesSlide" Target="/ppt/notesSlides/notesSlide8.xml" Id="Ra5baa424068140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29814e5c5425c" /><Relationship Type="http://schemas.openxmlformats.org/officeDocument/2006/relationships/notesSlide" Target="/ppt/notesSlides/notesSlide9.xml" Id="Rb2383fd0dc1044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e11f1abbe495a" /><Relationship Type="http://schemas.openxmlformats.org/officeDocument/2006/relationships/notesSlide" Target="/ppt/notesSlides/notesSlide10.xml" Id="R3764c1dd4df14d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d7e022b3c41e5" /><Relationship Type="http://schemas.openxmlformats.org/officeDocument/2006/relationships/notesSlide" Target="/ppt/notesSlides/notesSlide11.xml" Id="Re38041db40d748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75fb21a74415e" /><Relationship Type="http://schemas.openxmlformats.org/officeDocument/2006/relationships/notesSlide" Target="/ppt/notesSlides/notesSlide12.xml" Id="R56f851025d4d4e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93cab385047e3" /><Relationship Type="http://schemas.openxmlformats.org/officeDocument/2006/relationships/notesSlide" Target="/ppt/notesSlides/notesSlide13.xml" Id="Ra4a1f116e5964f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893b03834dae" /><Relationship Type="http://schemas.openxmlformats.org/officeDocument/2006/relationships/notesSlide" Target="/ppt/notesSlides/notesSlide14.xml" Id="R1764ba1e4745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07710d7a047c4" /><Relationship Type="http://schemas.openxmlformats.org/officeDocument/2006/relationships/notesSlide" Target="/ppt/notesSlides/notesSlide15.xml" Id="Rcf8a6eb05b854a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dd96d14084fb9" /><Relationship Type="http://schemas.openxmlformats.org/officeDocument/2006/relationships/notesSlide" Target="/ppt/notesSlides/notesSlide16.xml" Id="R777e340dbca741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445f649e841bb" /><Relationship Type="http://schemas.openxmlformats.org/officeDocument/2006/relationships/notesSlide" Target="/ppt/notesSlides/notesSlide17.xml" Id="R30cb16c5582447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328b2c9cd4849" /><Relationship Type="http://schemas.openxmlformats.org/officeDocument/2006/relationships/notesSlide" Target="/ppt/notesSlides/notesSlide18.xml" Id="Rf369119c54a74f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be22ffead47ae" /><Relationship Type="http://schemas.openxmlformats.org/officeDocument/2006/relationships/notesSlide" Target="/ppt/notesSlides/notesSlide19.xml" Id="R60838133e7be41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45ec684c24e42" /><Relationship Type="http://schemas.openxmlformats.org/officeDocument/2006/relationships/notesSlide" Target="/ppt/notesSlides/notesSlide20.xml" Id="R93d0b15700e5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3A459-D420-4762-B7E2-575489C6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Masked Categorical Sampling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D8B20-438A-4A8E-93E2-0C0E4152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F5A52"/>
                </a:solidFill>
              </a:defRPr>
            </a:pPr>
            <a:r>
              <a:rPr sz="1875" b="0">
                <a:solidFill>
                  <a:srgbClr val="5F5A52"/>
                </a:solidFill>
              </a:rPr>
              <a:t>A code-level trace from raw categorical data to the next accepted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0630F-11C7-49B9-95F8-8A8EEA62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E8B48-04F0-457F-9BCB-D8148812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Running example: B=2 samples, D=3 features, cardinalities=[2,4,3], max_cls=4</a:t>
            </a:r>
          </a:p>
        </p:txBody>
      </p:sp>
    </p:spTree>
    <p:extLst>
      <p:ext uri="{BB962C8B-B14F-4D97-AF65-F5344CB8AC3E}">
        <p14:creationId xmlns:p14="http://schemas.microsoft.com/office/powerpoint/2010/main" val="1235508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AE011-4E3A-47CA-BADA-40456656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9ABEC-E60F-47F7-9C80-9274EFF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The trace follows the categorical state, not the flattened 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98575-C04A-41EA-AAAC-EB465C83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67B4E-4F82-442F-BD73-AC7C655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B7544-DA75-45C0-A7B1-6643AABD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A3639-9BB9-465D-BABB-59030270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668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0641C-0110-42DE-82A3-02ADE12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430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Main tensor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CD64F-2DE0-449B-A222-B8F7F79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C69D-3DC2-4622-BE9F-4B1C577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430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88FBE-4A3F-4A68-AAA3-DF6C334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42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33D2-0925-4A32-8BC8-2DAE1DC9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307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What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F1DFE-F7EB-47A6-BFD3-10D632B2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1714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C42E3-88CE-492F-9D84-EC87ACC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562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Raw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8D927-5672-43AA-A39A-4431796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2095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413EE-E7A5-4D63-9BEB-1F7F2ABD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76450"/>
            <a:ext cx="1943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raw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0EA43-71E9-4335-8668-15E9124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9775"/>
            <a:ext cx="161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0A95C-4EE1-4689-89E3-356F00A5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146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0DCBE-6D93-4B04-AC95-6B430664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542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3FE43-024A-4C72-8481-D54E351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527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text/ordinal values are mapped to class 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2DA0A-B0B2-4F36-94E8-88B1711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2695"/>
            <a:ext cx="1714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4683C-BAF9-479B-9880-F073B48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9370"/>
            <a:ext cx="1562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Sampler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F6CD8-BCC9-467A-A8E4-6F36370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2695"/>
            <a:ext cx="2095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39FA9-93FC-4AB6-88C5-029F3A9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79370"/>
            <a:ext cx="1943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E8932-F39D-44BF-B8D0-7E896D73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2695"/>
            <a:ext cx="161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BB1FA-747F-461B-AF77-89AED30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9370"/>
            <a:ext cx="146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AFB48-E79A-4CA5-83E8-02D21753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2695"/>
            <a:ext cx="542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A570B-3C01-4873-B856-76D0F1E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9370"/>
            <a:ext cx="527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one integer per feature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A28F1-C567-486B-9738-B28D480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5615"/>
            <a:ext cx="1714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FF890-24E1-440A-8AE7-677C81D5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2290"/>
            <a:ext cx="1562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Model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261DC-5536-4F01-9267-51C63DEB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5615"/>
            <a:ext cx="2095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1422B-3240-4A96-B52B-F6EF0329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2290"/>
            <a:ext cx="1943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x_oh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E95B8-E751-4D25-868E-131880E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5615"/>
            <a:ext cx="161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57C572-B72E-4416-ACCE-EA3685B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2290"/>
            <a:ext cx="146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D, K)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A44CA-8699-4DE7-B2C8-D8749F9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5615"/>
            <a:ext cx="542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FECCF-F9D7-4DF1-85FC-45C573B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2290"/>
            <a:ext cx="527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temporary padded one-hot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EEA010-9C4D-4411-AC0A-DB19966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8535"/>
            <a:ext cx="1714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B23C51-58D2-4BAA-9D9E-3E13B4A6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5210"/>
            <a:ext cx="1562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Proposal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D58643-127C-4D84-BFBF-2B5D7C1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18535"/>
            <a:ext cx="2095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48F8E-422A-4EC4-879C-14E259E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5210"/>
            <a:ext cx="1943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x_delta_int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B4E973-DE16-4666-A92B-1CFD7BB3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8535"/>
            <a:ext cx="161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515350-E9A3-49BD-977B-CE71BF8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5210"/>
            <a:ext cx="146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29A67-108C-4D78-B4D5-ED1BC45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8535"/>
            <a:ext cx="542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9B6E26-908D-45D4-8936-725A4A2D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5210"/>
            <a:ext cx="527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one or more class ids may change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38C7ED-E8BF-44DC-B6F7-1DE0117E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1455"/>
            <a:ext cx="1714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B2AA7-CC49-49B8-89B9-D6DADC74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8130"/>
            <a:ext cx="1562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Next state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E7D2FA-9B17-4894-821F-68B6031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21455"/>
            <a:ext cx="20955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38FAE6-D650-4E24-AF04-27109A7F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88130"/>
            <a:ext cx="19431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5B26EB-2ABF-48AE-B211-3285022A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1455"/>
            <a:ext cx="161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E1F636-7B58-4F50-AF69-85095AC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88130"/>
            <a:ext cx="146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F2D95A-6329-4AE7-BD63-D15BD39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1455"/>
            <a:ext cx="5429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9D0784-033D-4714-8D2A-82AEBB13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88130"/>
            <a:ext cx="5276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accepted proposal or old state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AA07D0-1733-4394-AA2F-53325DF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06AE39-2AB5-4C70-B95F-0A98E9F8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14925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CategoricalExample/samplers.py keeps x as integer labels and calls to_one_hot only when scoring. My modification: add per-feature cardinalities and a validity mask.</a:t>
            </a:r>
          </a:p>
        </p:txBody>
      </p:sp>
    </p:spTree>
    <p:extLst>
      <p:ext uri="{BB962C8B-B14F-4D97-AF65-F5344CB8AC3E}">
        <p14:creationId xmlns:p14="http://schemas.microsoft.com/office/powerpoint/2010/main" val="556622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E5296-A491-4FC6-8BFC-1E6F88C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Input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47369-5A67-466C-B23C-2C02E4A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688E2-0BEF-430E-8E1E-E6E5688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5A52"/>
                </a:solidFill>
              </a:defRPr>
            </a:pPr>
            <a:r>
              <a:rPr sz="1725" b="0">
                <a:solidFill>
                  <a:srgbClr val="5F5A52"/>
                </a:solidFill>
              </a:rPr>
              <a:t>The sampler starts from integer category labels; padding is only introduced when the model needs a rectangular tensor.</a:t>
            </a:r>
          </a:p>
        </p:txBody>
      </p:sp>
    </p:spTree>
    <p:extLst>
      <p:ext uri="{BB962C8B-B14F-4D97-AF65-F5344CB8AC3E}">
        <p14:creationId xmlns:p14="http://schemas.microsoft.com/office/powerpoint/2010/main" val="942200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913F4-F79D-40F9-9AAA-43D43AD3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BB26-61E6-4ACA-8DA6-EE8B5DAF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1 maps each feature value to an integer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2A81F-0C51-4A4F-835E-DFE91F3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D2C8-558B-4CD4-981A-1F55F64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87D83-93B0-4FE4-BB70-A20AD58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71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75DE8-6A4F-47C0-9105-DF2DFBA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95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7A94A-F99D-4297-B3EB-633DF4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716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4222D-0A5A-43A2-BCE6-F4ADEE99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46F1E-DD18-4838-997C-5665313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71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Example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E1B05-AE55-46C0-BA7B-4D17C42E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95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E55CC-5A09-4384-8BC4-EAE1590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71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Class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36673-A129-4650-B69A-52795864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954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D464-DD23-4D78-846B-6E44BEA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771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Cardinality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35662-6959-4D9A-BDD6-36984FF0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3B7C8-0676-49A9-8309-EF64511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7978E-4C7D-491D-A377-74FEC0D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383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D4841-E04F-4D2A-906E-A4244D8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050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text categorical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A54B1-3BC8-44F6-8D03-CA8FE7F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99730-1958-4953-AA23-B8EE69D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0502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red, blue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42391-9DA4-459A-AC6C-BA6FBF9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ED5D7-BCB7-4B68-9960-F49CC36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0502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red=0, blue=1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929CF-B327-4C5F-8E5E-03FF31E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38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57415-823A-4143-8D06-428A3F7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10502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D8B3C-2AC4-4250-B11C-5E43EFE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57154-1E76-4A9C-8378-D6B5482A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57475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EFC3E-BD6D-4F94-B1E5-4F7AED3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908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97CAB-401A-4540-A921-A78EB43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574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ordinal integer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EBEED-23FF-4637-B358-7C44B996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90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3EA55-12F8-4F72-978D-916C41D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574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0, 1, 2, 3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0554B5-4DDE-4139-A7FB-A926706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38575-A12E-4BD2-A993-D2D2E9BE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574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same ids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949BDD-F06A-4D8B-A4ED-DED4118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908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318FD-FF6D-4813-9394-BB7C8E4D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5747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96CB87-073D-4217-AC65-8F0EF053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08B68C-F093-4230-97A6-55BBA58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21909-EE4F-4661-A2D0-DFA9232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EEED4-D3EE-4E27-88C3-DD4511AA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0992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text categorical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31FCAB-3F5E-4E17-9932-CE91D8A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A5B2E0-FA58-45CD-B4D6-17FB1A5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0992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low, mid, high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A8726C-8CBB-483A-8F8A-6790861E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43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E88D6-595F-4A52-AD9A-B3E8934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0992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low=0, mid=1, high=2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6F57B6-0618-4EED-AA1C-F11B347C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F60A52-E2E3-4F88-9730-6A6DF063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09925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FD804-D50B-41CB-A24D-B162B7F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7429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B903CC-0D3E-4E88-9575-B9A114FF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62450"/>
            <a:ext cx="714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x_int = [[1, 2, 0],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   [0, 3, 1]]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x_int.shape = (B=2, D=3)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cardinalities = [2, 4, 3]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562051-82AE-4543-83A4-5F671A3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415872-8FA0-4694-87AF-4A2FA4CF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CategoricalExample uses integer x with shape (batch_size, dim). The per-feature mapping and cardinalities list are my modification for real mixed-cardinality data.</a:t>
            </a:r>
          </a:p>
        </p:txBody>
      </p:sp>
    </p:spTree>
    <p:extLst>
      <p:ext uri="{BB962C8B-B14F-4D97-AF65-F5344CB8AC3E}">
        <p14:creationId xmlns:p14="http://schemas.microsoft.com/office/powerpoint/2010/main" val="643900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8D522-4AAD-4729-8859-DD09712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0F4A2-7146-4662-908A-E5E9417D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2 builds a validity mask for padded class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67880-FF86-4DDC-9265-DDEA30E3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4B13-98A9-421A-ACA0-46DD6DC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FE94C-F81D-47C4-86C2-16CF9F7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DE2D-32B4-4323-92B0-C19142F0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EC506-4980-481B-8A09-EAFD6983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Real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3F92-97DA-4C6A-9AED-BF8B0C8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D9021-516E-4777-9312-51E7950D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Padded width K=4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89F81-5578-4459-9E83-FB60886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7C0D1-73D3-4FC1-9B75-66C1608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valid_mask 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CB5C5-64A9-4E74-9218-F21C87C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619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8AE8C-F798-4E54-9CE9-74A98ED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1466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0EF86-7C11-40B3-8D0D-7E958D28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2857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2CFEC-1628-45EE-B887-D13F704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24075"/>
            <a:ext cx="2705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0, 1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5212E-C591-4120-9EB9-DC9C9CE6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2762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5B873-2609-45B4-8825-2A95CCA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24075"/>
            <a:ext cx="2609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slots 0..3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A647B-ACB3-43F6-AF9B-6FE0F08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619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AA770-0838-470F-928A-5B38EE8D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3467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[1, 1, 0, 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43349-F6C6-4458-A30B-6A5931AC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1600"/>
            <a:ext cx="1619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D9510-D60F-4EDA-8B77-F1A4661F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8275"/>
            <a:ext cx="1466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174B4-6F82-4B03-8B61-5FC039D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1600"/>
            <a:ext cx="2857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52B11-9483-4F8D-8514-0DF197B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08275"/>
            <a:ext cx="2705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0, 1, 2, 3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7E864-512A-4E35-9071-A899456A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1600"/>
            <a:ext cx="2762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BF63C-BF97-4A5B-A802-CD76F29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8275"/>
            <a:ext cx="2609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slots 0..3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1B4EF-309E-49BD-9147-3CC9D2A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1600"/>
            <a:ext cx="3619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14BAC-C795-40C1-8215-103886BA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8275"/>
            <a:ext cx="3467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[1, 1, 1, 1]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5E91E3-92A8-4C55-A030-A1C68CA1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5800"/>
            <a:ext cx="1619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9D298-FF85-44CE-A570-83270D04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2475"/>
            <a:ext cx="1466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E0EDB-6B6A-4951-AE2D-DE1E5E7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25800"/>
            <a:ext cx="2857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BE140-5C0B-431A-BD41-F6197D68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2475"/>
            <a:ext cx="2705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0, 1, 2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EC492-AC64-49A8-86B6-46D49172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25800"/>
            <a:ext cx="2762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53987-8C11-4CDA-A359-37D4C1D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2475"/>
            <a:ext cx="2609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slots 0..3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3F8401-1FBE-4687-B4B5-D1EA86C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25800"/>
            <a:ext cx="36195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AA0313-DD6D-4A4A-8331-A46E3DD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2475"/>
            <a:ext cx="34671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[1, 1, 1, 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333D3E-FBF2-4C1B-87DE-9B25AED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29125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9243B6-4993-4BD4-BD34-4D318BA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52950"/>
            <a:ext cx="695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valid_mask.shape = (D=3, K=4)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invalid slots are padding,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not possible categories.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B4DB2-C3D7-4DE4-9932-70D70C9B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AD7591-9EE7-4EEE-9253-A992D34B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81675"/>
            <a:ext cx="887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not present in the repo. This is my modification needed to extend CategoricalExample beyond one shared num_cls.</a:t>
            </a:r>
          </a:p>
        </p:txBody>
      </p:sp>
    </p:spTree>
    <p:extLst>
      <p:ext uri="{BB962C8B-B14F-4D97-AF65-F5344CB8AC3E}">
        <p14:creationId xmlns:p14="http://schemas.microsoft.com/office/powerpoint/2010/main" val="871508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04C57-3745-4B6D-8A83-E312D87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D818-3212-4198-A49B-1ECE153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3 converts integer state to padded one-hot for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2F636-A9B5-49BA-843F-7467BDEE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55C53-88EF-4B88-A4B5-733CC2A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B1E1-D031-4358-B6FA-968CC44A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def to_padded_one_hot(x_int):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x_oh = zeros(B, D, K)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x_oh[b, d, x_int[b, d]] = 1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return x_oh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59D8D-FBDF-4DEA-B95F-E2B8A56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62125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5BC83-14C0-4748-9A56-1BD87718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8383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EF828-5688-4E7B-8287-57A1420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0D8F0-629F-4A06-9024-68790499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383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x_int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73000-86D4-4C42-BEDC-7B66E90C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119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C6FA4-7E0D-49AF-A4A8-99D3C79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38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x_oh row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AA375-8EDD-4A8C-A0FC-B83C55E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A3479-3CF9-4A04-B4C6-E83FA8B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383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One-hot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75FA6-9C22-4B6C-B2F2-813ADF5F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05025"/>
            <a:ext cx="76200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E82-6AAB-415E-90B4-6CCEBCD5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71700"/>
            <a:ext cx="609600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6B1B1-8834-4756-BD90-9339326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05025"/>
            <a:ext cx="10477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D5A4B-081D-43F6-8DA6-4066A4A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71700"/>
            <a:ext cx="895350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[1, 2, 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C0E6A-6D07-4A69-BB3F-267FB35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05025"/>
            <a:ext cx="11906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80CA5-E00D-447A-AACB-6C91DE0C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71700"/>
            <a:ext cx="10382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(3, 4)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D7786-6F07-4782-B8C3-5ACDE87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05025"/>
            <a:ext cx="23336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EC9BA-73F3-4554-B144-74C8E594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71700"/>
            <a:ext cx="21812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A=[0,1,0,0], B=[0,0,1,0], C=[1,0,0,0]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45E16-2EE4-4513-BA5B-4AFE88FA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19388"/>
            <a:ext cx="76200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79698-DC0C-4984-82FB-22AD139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86063"/>
            <a:ext cx="609600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6D5EF-CD10-49CF-B2D9-6CABEED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9388"/>
            <a:ext cx="10477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086C1-FEBB-4212-8BE8-5A160B93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6063"/>
            <a:ext cx="895350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[0, 3, 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2A19A-BC35-4B65-9B55-08299AB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9388"/>
            <a:ext cx="11906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5B987-56F4-4FA1-858C-A94265B3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86063"/>
            <a:ext cx="10382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(3, 4)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E7F66-4303-4FB0-A68F-01C3A241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9388"/>
            <a:ext cx="23336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45C8C-03E0-4801-8832-49AD49B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6063"/>
            <a:ext cx="218122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A=[1,0,0,0], B=[0,0,0,1], C=[0,1,0,0]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6F62F-5D10-4B6C-97F1-BC817B9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Shape change: x_int (2,3) -&gt; x_oh (2,3,4).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0D37B-E73F-403D-B775-CF1BA22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05011-5AC5-4751-8B9F-8B19AACA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CategoricalExample/samplers.py::to_one_hot creates zeros with shape (batch, dim, num_cls). My modification replaces num_cls with K=max(cardinalities).</a:t>
            </a:r>
          </a:p>
        </p:txBody>
      </p:sp>
    </p:spTree>
    <p:extLst>
      <p:ext uri="{BB962C8B-B14F-4D97-AF65-F5344CB8AC3E}">
        <p14:creationId xmlns:p14="http://schemas.microsoft.com/office/powerpoint/2010/main" val="1130503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3CD32-132E-4EBD-B1E4-5204D0B4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One proposal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C3B0C-D6CC-4839-8C9A-4DF1C115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97D41-543F-4378-961B-212464B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5A52"/>
                </a:solidFill>
              </a:defRPr>
            </a:pPr>
            <a:r>
              <a:rPr sz="1725" b="0">
                <a:solidFill>
                  <a:srgbClr val="5F5A52"/>
                </a:solidFill>
              </a:rPr>
              <a:t>A DMALA-like categorical step scores the current state, computes class-wise changes, masks invalid slots, samples a proposal, and applies MH correction.</a:t>
            </a:r>
          </a:p>
        </p:txBody>
      </p:sp>
    </p:spTree>
    <p:extLst>
      <p:ext uri="{BB962C8B-B14F-4D97-AF65-F5344CB8AC3E}">
        <p14:creationId xmlns:p14="http://schemas.microsoft.com/office/powerpoint/2010/main" val="348251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20465-DFCA-458C-A41A-D392BFC3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E2A38-532A-45FF-A20E-70283EE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4 evaluates the model on the current padded one-hot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A384C-4F80-488E-B2AD-41C34A7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91601-829D-4C7A-A351-54E58F5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E5807-445B-4E3E-ACD7-190E37D0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x_cur_oh = to_padded_one_hot(x_int)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score_cur = model(x_cur_oh)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x_cur_oh.shape = (2, 3, 4)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score_cur.shape = (2,)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83023-21A8-4172-BDA4-C567CBDA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190B3-9E11-45EE-83CC-F0EB40B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85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02472-4EF6-4B1D-8979-D6B0709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0A84C-974E-4311-ABF9-6721B65B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859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0CEBA-6944-46C3-9418-3AD6F47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4D4B1-BD4C-4B7A-84B6-22D2749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85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F3E09-06FA-4D75-8F04-A6F40279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8F359-0298-4B65-AA4F-575D6F69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1932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F5D96-646B-4B0A-96B3-14FF2C77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B485D-47A2-4A07-BECD-9D002628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193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DE2BE-932B-48E2-BA6C-8E4BB481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526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37E22-2167-4868-9DD7-8A9A113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193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current categorical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781C-12D5-4227-8A97-29E6AFE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14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41E23-2F19-4C6B-8802-72A4FB7D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812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x_cur_oh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B74D5-06DE-43EE-9607-3099208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146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9A3F1-002D-49A6-9C1D-F8DA9BE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8127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795E6-5C63-4025-BB59-C714457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146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07412-4FC7-4645-B39D-41674B8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5812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temporary model input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6F7B3-E7F5-40BD-869E-B116D5C8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D0432-A9EC-4C76-B524-89157AD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4322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score_cur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344D1-E4C8-4022-9A67-8F8A434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4FD74-D3A3-45C5-A161-6B04F76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432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61772-CA2A-4859-AD86-A51AA12F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7B54F-F37C-4427-8C69-EBD3EBE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43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one energy/log-score per sample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69F98-DCF1-4F05-9BC2-524336C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E5964-63E5-4A05-89F7-B473A223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CategoricalExample calls model(self.to_one_hot(x)) inside the sampler. The exact model meaning depends on the experiment, but the shape is one score per row.</a:t>
            </a:r>
          </a:p>
        </p:txBody>
      </p:sp>
    </p:spTree>
    <p:extLst>
      <p:ext uri="{BB962C8B-B14F-4D97-AF65-F5344CB8AC3E}">
        <p14:creationId xmlns:p14="http://schemas.microsoft.com/office/powerpoint/2010/main" val="12423362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07B51-952C-426D-A97C-544E5189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GRADIENT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139BB-AA6B-4163-8A78-69ABD572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5 computes one gradient value for every feature/class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CCB57-1D8A-4A33-BC5D-7FC45E9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7818-E9AD-4895-A70D-B527979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81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E53F-1632-41F5-8B64-170475AA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552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x_cur_oh = x_cur_oh.requires_grad_()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gx = grad(model(x_cur_oh).sum(), x_cur_oh)[0]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gx.shape = (B=2, D=3, K=4)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D7C1D-BCE1-4AA2-80BA-5BDBC8F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B554C-8F3A-4259-BC1B-1A4208E7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38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43846-E67F-424C-9212-5F9BE9AB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7ABF5-839F-49BE-A919-BC6A94FF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383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Empirical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8823A-9A0D-4643-AB37-51D40BA5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1238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98CBA-BA83-406E-820C-B37F783A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085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gx[0,0,1]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9014C-F6D4-4FAA-9A0B-1382009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05025"/>
            <a:ext cx="3143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B98F5-0C40-4E1B-BCF6-A9DBCAD5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2990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effect of sample 0, feature A, class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93735-7C9E-464A-8478-83EFF9C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1100"/>
            <a:ext cx="1238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2E1B6-EA6C-4135-8E97-973111FB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17775"/>
            <a:ext cx="1085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gx[0,1,2]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6373A-FF08-47E6-9BE8-195CBE4F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1100"/>
            <a:ext cx="3143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8B147-E7F2-4C58-9BF4-5E03ABA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7775"/>
            <a:ext cx="2990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effect of sample 0, feature B, class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904A1-1FF7-461D-A63F-29E8031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7175"/>
            <a:ext cx="1238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CB19C-D76B-492F-BA9E-9FF49CF2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63850"/>
            <a:ext cx="1085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gx[1,2,3]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0BC28-F157-4925-8DFC-C7190B3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97175"/>
            <a:ext cx="3143250" cy="34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E7C76-7073-49A7-9DDC-02A6385B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3850"/>
            <a:ext cx="2990850" cy="26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padding slot for C; computed but later masked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BFDE8-D03C-4D06-B81D-2121B66B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The gradient tensor has a slot for every padded class, even when that class is invalid for a feature.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BB4E4-8939-4CA4-99CA-46F0C423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E68CE-DE71-4F31-9AE2-BF2DD37F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0175"/>
            <a:ext cx="982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utils.approx_difference_function and categorical samplers use gradients with the same logic: estimate how the score changes when coordinates/classes change.</a:t>
            </a:r>
          </a:p>
        </p:txBody>
      </p:sp>
    </p:spTree>
    <p:extLst>
      <p:ext uri="{BB962C8B-B14F-4D97-AF65-F5344CB8AC3E}">
        <p14:creationId xmlns:p14="http://schemas.microsoft.com/office/powerpoint/2010/main" val="94670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6E838-D8B8-4D6D-98F0-78BAE796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GRADIENT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219B9-340E-4560-B834-004EB7B3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6 subtracts the active-class gradient to form move scores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FB6B-D576-41C9-B39E-890D0C6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D66A1-19E9-4838-804F-81BA3ACE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90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20A07-2AF3-44C7-8CF2-6E8BCD8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19275"/>
            <a:ext cx="5619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gx_cur = (gx * x_cur_oh).sum(-1)[:, :, None]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forward_delta = gx - gx_cur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gx_cur.shape = (2, 3, 1)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forward_delta.shape = (2, 3, 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CA0B-38D1-423B-9DB9-401918A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363A0-B235-455B-8C4B-FE080E3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For sample 0, feature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00A53-EC1C-4A0F-B279-88ECB40A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FD12D-F82E-4C43-AD41-EA8073C1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09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A6A35-F2E0-4C88-AEBB-F70A89F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2381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BF8DA-D1D0-44F1-83CB-79CA7CB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2228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current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6C344-A03C-4C7F-B8F0-FB7363EB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71450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70ED2-4700-4E3F-B3F4-B097C716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156210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CB354-09BB-43C7-91D4-2158402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43163"/>
            <a:ext cx="2381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913B3-DDD4-4FE7-A47E-62EF5B1A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09838"/>
            <a:ext cx="2228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gx[0,1,:]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4DF43-A802-401A-A515-FCE3865A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3163"/>
            <a:ext cx="171450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2CE58-A0F0-41BD-87ED-E8C43AEA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9838"/>
            <a:ext cx="156210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[0.2, 0.7, 1.1, -0.1]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BA4F0-496E-4C86-A6AB-1D83236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2381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3A844-43AE-4DA1-8FAA-33AD128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2228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gx_cur[0,1,0]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8F171-6D85-4FBB-AB90-46AF38A8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9875"/>
            <a:ext cx="171450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153E1-4466-405E-8CAB-0F1D217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76550"/>
            <a:ext cx="156210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1.1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A396A-4DF0-4F4B-BA33-919CECBA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2381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BF91E-8C08-4262-AAD8-A233C4B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43263"/>
            <a:ext cx="2228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forward_delta[0,1,:]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B9CED-1DA8-4F57-84BB-6AE7375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6588"/>
            <a:ext cx="171450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4D521-8ED6-4D6D-8A54-69237F9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3263"/>
            <a:ext cx="156210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[-0.9, -0.4, 0.0, -1.2]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A0E9A-1CBA-42BE-B35D-15219FAE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F9948-CC02-438F-B451-31AA64C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982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Meaning: each class is compared with the currently active class. Broadcasting lets (2,3,4) - (2,3,1) subtract the active-class value across all K class slots.</a:t>
            </a:r>
          </a:p>
        </p:txBody>
      </p:sp>
    </p:spTree>
    <p:extLst>
      <p:ext uri="{BB962C8B-B14F-4D97-AF65-F5344CB8AC3E}">
        <p14:creationId xmlns:p14="http://schemas.microsoft.com/office/powerpoint/2010/main" val="18116722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7E6EA-A0FA-4F8B-8A05-14016CCC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01361-BAE9-4A5D-BB07-49CF800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7 applies the mask before making a categorical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6E01A-9454-4C42-9B8A-B6C1D943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1784-5457-4E13-BF94-5BF720E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81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F2738-8788-4210-976E-B18D13B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524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proposal_logits = forward_delta - penalty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proposal_logits = proposal_logits.masked_fill(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valid_mask[None, :, :] == 0,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-1e9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proposal_logits.shape = (2, 3, 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6F7B9-CBE4-42AA-B6A7-0E9DD71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A9697-47BA-43B7-9145-FEDF7D7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383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B73C3-49D1-4A36-8BB3-89FBF836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3685C-CD26-43CF-BBC1-41512581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383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Before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0C962-F5C2-4DB5-B068-B0815C5C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621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35F72-36BB-4E0B-9F46-B889E258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8383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After mask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A6A2F-9131-422A-BC7E-3827128A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05025"/>
            <a:ext cx="857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FEF40-8780-4C8C-A3CA-9525AFC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71700"/>
            <a:ext cx="704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F758-E37A-4A49-8E5A-80233F0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FA190-59E1-49C8-9D59-C73D656C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[0.1, 0.0, 0.8, -0.4]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A1EF4-FA64-43D7-9CCC-FDA4D02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0502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9C169-BBFB-47D1-B4D1-99B230F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17170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[0.1, 0.0, -inf, -inf]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2E192-B2A1-4494-93FD-F538074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3975"/>
            <a:ext cx="857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4C6D4-3C04-4540-8F47-F25F0A3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0650"/>
            <a:ext cx="704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B423C-E274-48E6-BDA8-D912468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397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63EB3-3DEC-4BEF-8044-78E4DA7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065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[-0.9, -0.4, 0.0, -1.2]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6BD97-F2B6-496B-BC6C-20A1A35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9397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79CB5-28D8-4D4D-8555-FBB3B63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6065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[-0.9, -0.4, 0.0, -1.2]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9557E-4DB4-4672-81CC-51FA0EA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2925"/>
            <a:ext cx="857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78D60-C5FD-48FB-BFEA-AC21D69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9600"/>
            <a:ext cx="704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D13B5-F495-435A-B8BA-725E0E87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292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FC4C8-1D2F-42B8-97AC-B97C0926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960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[0.0, 0.5, -0.3, 1.4]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B340F-DE26-47E3-9BAD-53FA9BE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82925"/>
            <a:ext cx="1952625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773D7-F22F-460F-AF4A-735179F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149600"/>
            <a:ext cx="1800225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[0.0, 0.5, -0.3, -inf]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B1C8B-479D-4087-BA60-67B132FA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C6932C-686F-4280-B04B-0F13A370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62550"/>
            <a:ext cx="935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masking is my modification. It is the key step that prevents padded classes from entering the proposal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064922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142C-3E5C-40F0-AC21-A0A92D11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FA3B-E9CC-47CF-81DE-5D89B73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8 samples the proposal as class labels, then rebuilds one-hot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749DC-7524-44A6-BA92-D84FBAD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64749-CDD8-474E-8D44-D912F75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619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54921-F382-44B9-8FA4-03C1149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905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# Option A: sample one replacement move per row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move = Categorical(logits=flatten_valid_moves).sample()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x_delta_int = apply_move(x_int, move)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# Option B: sample a replacement class per feature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x_delta_int[:, d] = Categorical(logits=proposal_logits[:, d, :]).sample()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x_delta_int.shape = (2, 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BF61-CB0E-43B3-8178-E39C51A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C3976-31F5-4407-9EDC-400BD421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8595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9A95-069E-4AC7-82C5-DE4CA34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119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79FE5-7A6C-41C8-B098-80BF882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859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6632B-5BF1-405C-8AED-F64DF18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E1BB6-D12B-4D8E-BA54-C43A6D6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85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Example row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E3FF0-A509-4752-85E0-B70E5579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128587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561DA-EDA1-479C-8837-B17FFF1B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19325"/>
            <a:ext cx="1133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D21F7-9FD9-4BA1-8A6E-6D2FC803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119062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AE19E-41B8-4114-A085-4C32352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19325"/>
            <a:ext cx="103822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8485E-691D-4C5F-B840-44F74767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1619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83C9F-1B26-4189-8F62-411C85B9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19325"/>
            <a:ext cx="1466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[1,2,0]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DD081-E15D-4DEB-8F17-7F6CF0AE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9363"/>
            <a:ext cx="128587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94359-16B6-478A-9D59-D78B1F96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86038"/>
            <a:ext cx="1133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sampled move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5D31A-D072-4D31-B295-D4BD0A9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19363"/>
            <a:ext cx="119062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33353-6550-45B6-9DB4-DD8314D6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86038"/>
            <a:ext cx="103822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(2,) or (2,3)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BD6D7-72FE-4BE8-97A6-CD6CB54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9363"/>
            <a:ext cx="1619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B8D54-EDB3-41C5-A362-D10831F6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86038"/>
            <a:ext cx="1466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B: 2 -&gt;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72F0D-313B-469C-8FD6-FB4B1AF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86075"/>
            <a:ext cx="128587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D7903-4A1F-40F3-8496-1C5DA1C0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133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x_delta_int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89394-D102-4E5E-812D-519483B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119062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653CC-96F8-43B0-998D-60BE9AB8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52750"/>
            <a:ext cx="103822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3146F-69F1-422D-ABC9-A3E83EB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619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BE317-53F0-409C-AE88-FE68A78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1466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[1,1,0]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C5588-E4B7-45DA-B6BB-349E12B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2788"/>
            <a:ext cx="128587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87AEA-82B3-4002-87D0-9B83C8AD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9463"/>
            <a:ext cx="1133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x_delta_oh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C4816F-D839-4EA2-89FF-E9E7220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52788"/>
            <a:ext cx="119062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72786-5855-4551-A600-9F5E394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19463"/>
            <a:ext cx="103822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F8716-66C5-4087-8284-28F937E4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2788"/>
            <a:ext cx="161925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ECF1E-7257-4689-A2D1-3C506216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19463"/>
            <a:ext cx="1466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1515"/>
                </a:solidFill>
              </a:defRPr>
            </a:pPr>
            <a:r>
              <a:rPr sz="975" b="0">
                <a:solidFill>
                  <a:srgbClr val="151515"/>
                </a:solidFill>
              </a:rPr>
              <a:t>padded one-hot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2E3045-CCB5-4C5C-897F-7EA52EE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53000"/>
            <a:ext cx="1000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25FBB0-F4AB-4CB4-983C-FA98DE3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973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CategoricalExample uses torch.distributions.Categorical(...).sample(). My modification defines the masking and variable-cardinality version of the logits.</a:t>
            </a:r>
          </a:p>
        </p:txBody>
      </p:sp>
    </p:spTree>
    <p:extLst>
      <p:ext uri="{BB962C8B-B14F-4D97-AF65-F5344CB8AC3E}">
        <p14:creationId xmlns:p14="http://schemas.microsoft.com/office/powerpoint/2010/main" val="924913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E7B43-A0D5-4B86-84CE-EFC8E6E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C7F58-BB27-46C3-B00D-B215F737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9 scores the proposed state with the same model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8281B-9FCB-4F6F-B7C2-2FBC8825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2A6A0-32C7-4B8C-B59D-F0F33CB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2E771-02EC-47D4-BC1B-8C836C9F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85950"/>
            <a:ext cx="962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x_delta_oh = to_padded_one_hot(x_delta_int)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score_delta = model(x_delta_oh)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x_delta_int.shape = (2, 3)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x_delta_oh.shape  = (2, 3, 4)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score_delta.shape = (2,)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AC8B-A01F-46C7-B32A-71D4318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6F841-B7F2-4CEF-A70B-4B797BB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814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A466C-33B3-47ED-8E89-3FCCFB81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A4899-6DB1-4C2C-ADA3-A58AA814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81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397A3-B57F-46E9-89F1-F377D62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ED7B-5B57-44EC-BDB7-6970A508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81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8234C-D1D7-4B22-B4D0-EAFB57D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DA299-E87D-473C-8232-E4566E4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Score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4CEF0-CD18-42D1-8B9C-AA5D4191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B8479-E877-4F3F-ABC1-58E43D21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14825"/>
            <a:ext cx="9906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1200-310C-4560-917A-493F57C8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2095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C659C-BA63-4F68-B989-859FCF1F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14825"/>
            <a:ext cx="1943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[1,2,0]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E9106-E63E-4BFA-B865-432E499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2095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37DC5-CE30-4F80-B1AA-C02B06F3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14825"/>
            <a:ext cx="1943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[1,1,0]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C5C98-007A-4535-B014-9C55F3FC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3619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32C72-F43B-4279-A437-A089ED80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14825"/>
            <a:ext cx="3467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score_delta[0] - score_cur[0]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F11FA-3BD4-4DD9-8F64-071E277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7263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7462D-0DE1-4622-8707-0F377AE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33938"/>
            <a:ext cx="9906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BAAE0-C86D-4551-B933-D5F300B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7263"/>
            <a:ext cx="2095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B257F-81D1-4C57-AFBB-8079EF47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3938"/>
            <a:ext cx="1943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[0,3,1]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BC81C-C1D3-4F6B-9509-C6D11A41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7263"/>
            <a:ext cx="2095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67E97-E810-4759-87A7-D485AEAB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33938"/>
            <a:ext cx="1943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[0,3,2]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05ADBF-E78C-4BD0-85FF-60BA162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7263"/>
            <a:ext cx="3619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65408-ED27-4B6A-9D6A-BACD5799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33938"/>
            <a:ext cx="3467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score_delta[1] - score_cur[1]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F4762-9DF9-4D70-ACD0-9F79FF1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72125"/>
            <a:ext cx="981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194B3-9BE1-48BD-BE31-499F13F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686425"/>
            <a:ext cx="954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LangevinSampler MH correction uses model(x_delta) - model(x_cur). In the categorical version the inputs are x_delta_oh and x_cur_oh.</a:t>
            </a:r>
          </a:p>
        </p:txBody>
      </p:sp>
    </p:spTree>
    <p:extLst>
      <p:ext uri="{BB962C8B-B14F-4D97-AF65-F5344CB8AC3E}">
        <p14:creationId xmlns:p14="http://schemas.microsoft.com/office/powerpoint/2010/main" val="6142965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C1EBD-5015-4BC7-8C03-4A952EE9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MH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07F41-07BE-4A77-B279-FBC4AA7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10 recomputes proposal probabilities from the proposed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CE0BA-5A34-4BDD-83D3-D74EE291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4459-5EBB-4692-A1A4-3AC374D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81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D04FA-F192-4133-B29F-4704817F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52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reverse_delta = diff_fn(x_delta_oh, model)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reverse_logits = reverse_delta - penalty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reverse_logits = reverse_logits.masked_fill(invalid_mask, -1e9)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lp_forward.shape = (2,)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lp_reverse.shape = (2,)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197A2-8166-44F3-9021-0578ACD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49D27-F1E0-435C-AB1B-5D85D5AC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621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lp_forward is the log probability of the sampled current -&gt; proposed move.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D0330-1D18-4056-AAAA-539C378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10638-7394-45B5-A89F-BD1EF4F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1457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lp_reverse is the log probability of the proposed -&gt; current move.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D57F7-3157-40F5-9A3B-24F6075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4CA0E-B7A4-4273-BDF6-71204D3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670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The same validity mask is used in both directions.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0A380-FDA0-46AD-B2C8-D7B582ED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DB001-BC61-429A-956A-56A8A7B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982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samplers.py::LangevinSampler computes lp_forward and lp_reverse for MH. The categorical masked reverse pass is my modification.</a:t>
            </a:r>
          </a:p>
        </p:txBody>
      </p:sp>
    </p:spTree>
    <p:extLst>
      <p:ext uri="{BB962C8B-B14F-4D97-AF65-F5344CB8AC3E}">
        <p14:creationId xmlns:p14="http://schemas.microsoft.com/office/powerpoint/2010/main" val="516935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21AC6-472B-4708-B322-176A1FC4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MH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330FA-32F5-402C-B557-645F1106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11 accepts or rejects the proposed categorical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B188B-2115-4568-85E8-AA28D0C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10696-3002-4562-A856-2680636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76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1044D-A591-470C-B83A-202EC30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m_term = score_delta - score_cur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la = m_term + lp_reverse - lp_forward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 = (la.exp() &gt; torch.rand_like(la)).float()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x_next = x_delta_int * a[:, None] + x_int * (1 - a[:, None])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D3299-FEE8-49FC-9E08-0E77D5B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A3188-8672-4269-954B-1F147BC7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38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EE789-24E5-4503-8AD5-317BEFF9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83B91-5B4F-40E2-82DC-00DE524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385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A301E-CBBF-423C-BA57-239DDCE4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523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B7919-C330-4A37-B902-71F63020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38575"/>
            <a:ext cx="508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F12F6-1ADF-4228-B959-8425B50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05275"/>
            <a:ext cx="16192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6976C-D7FF-4159-B341-3D022250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71950"/>
            <a:ext cx="1466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m_term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D3DC8-9E7B-49AB-8E74-DC22564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05275"/>
            <a:ext cx="152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950F1-6426-45FA-975C-BF3F5B5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37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F8208-5632-4539-B8F1-C6478269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52387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ACCF9-66CB-470B-9C0E-3E2F478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71950"/>
            <a:ext cx="50863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model score difference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D4D1F-938B-4873-B37C-F6DBCCE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98645"/>
            <a:ext cx="16192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84F66-C291-4E2E-A62A-281D101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5320"/>
            <a:ext cx="1466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lp_forward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A0D21-4D69-4877-8A4D-506ED7A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8645"/>
            <a:ext cx="152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91439-0067-471A-A3D6-314AC7B5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65320"/>
            <a:ext cx="137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82A2A-41DF-48E8-B91F-C30C145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8645"/>
            <a:ext cx="52387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93CD5-690E-41A0-822C-2C58DC70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65320"/>
            <a:ext cx="50863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proposal log-probability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4508F-66B0-46B0-BB47-07A1FE7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92015"/>
            <a:ext cx="16192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32477-14E8-4F06-81E7-B1EAA3C4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58690"/>
            <a:ext cx="1466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lp_reverse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9B4CE-08AA-45C8-9B0F-5903BC8E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2015"/>
            <a:ext cx="152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37E37-AFD4-4C69-8B53-58D99F52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58690"/>
            <a:ext cx="137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ADE0A-FEA1-412F-A6D2-D337CE4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2015"/>
            <a:ext cx="52387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7B2FB-EA04-461D-B12E-BA343B2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8690"/>
            <a:ext cx="50863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reverse proposal log-probability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7CB3F-196E-4E9B-91A3-E9C6CA2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85385"/>
            <a:ext cx="16192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6ECC8-0AD3-44AB-8898-AB199FB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52060"/>
            <a:ext cx="1466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3607A-B6DD-493A-9A2D-ADB73CB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85385"/>
            <a:ext cx="152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3D085-61BF-4F9B-90E7-562F10B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52060"/>
            <a:ext cx="137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B39D2-A0B4-4DAC-8399-BD21F7B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85385"/>
            <a:ext cx="52387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5D6879-0921-4DE7-95F6-2E944540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52060"/>
            <a:ext cx="50863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accept/reject indicator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03ECF0-585C-470B-A55D-10946B0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8755"/>
            <a:ext cx="16192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6580E-7B49-48C2-98EB-5B64DF4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45430"/>
            <a:ext cx="14668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C2110-EA4D-4510-86AF-A278674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78755"/>
            <a:ext cx="152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361AA9-CF22-4D7D-9999-F7DB99AB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45430"/>
            <a:ext cx="137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B84A7C-FD87-48E7-8890-E6405CB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78755"/>
            <a:ext cx="523875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185DCE-2535-4EEB-8B14-73507204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45430"/>
            <a:ext cx="50863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next integer categorical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C0E3BF-C5BE-44CC-B98C-DC199E82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5787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D1C085-C5A1-4150-9004-9037069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72175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samplers.py::LangevinSampler uses exactly this MH structure for DMALA when mh=True.</a:t>
            </a:r>
          </a:p>
        </p:txBody>
      </p:sp>
    </p:spTree>
    <p:extLst>
      <p:ext uri="{BB962C8B-B14F-4D97-AF65-F5344CB8AC3E}">
        <p14:creationId xmlns:p14="http://schemas.microsoft.com/office/powerpoint/2010/main" val="379167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3DC13-50E8-4494-8C98-7629451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5A52"/>
                </a:solidFill>
              </a:defRPr>
            </a:pPr>
            <a:r>
              <a:rPr sz="975" b="1">
                <a:solidFill>
                  <a:srgbClr val="5F5A52"/>
                </a:solidFill>
              </a:rPr>
              <a:t>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02121-EE26-462F-86D0-5ED1364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12 decodes directly because x_next is already categorical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8D3F-0272-443A-8973-BB36077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A4351-2B3B-4EE7-A19C-39ED80F7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DA55A-234E-4217-ACA8-FFE9AA6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383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Tensor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74500-F6A1-462C-A12B-02CAA52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621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F3F7-5B12-451C-9369-FC375FC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383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36216-4FC4-4D82-ACC3-C8CD9EB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CFFF-D575-4F70-8E5C-DFF34E60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383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23D7-3896-4CFD-B176-E46C47F0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62125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233A8-99E3-41D8-9B5D-69BCCC7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38325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What it 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8EB03-B758-4AC5-A868-5AE9F373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18097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7313B-324C-4448-A67B-02C5ED92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6573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471B6-07DC-4DF2-AD37-4407DF5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05025"/>
            <a:ext cx="1619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FDC4A-DD69-4559-A489-84CEDEE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71700"/>
            <a:ext cx="1466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1CE5-F316-49DF-B993-6450BEA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05025"/>
            <a:ext cx="285750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40526-15F3-4FC0-ADCC-60EE5EB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71700"/>
            <a:ext cx="270510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[1,1,0]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E977D-5450-490F-B2E4-AD7CC482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05025"/>
            <a:ext cx="4667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6F5D6-85D7-4D24-8206-58140E1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71700"/>
            <a:ext cx="4514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A=blue, B=class1, C=low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91BFE-5D9B-4BC5-BF62-EBDBD9B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1600"/>
            <a:ext cx="18097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B1760-5DDD-42AE-9D6B-137F8DD6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8275"/>
            <a:ext cx="16573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x_next_oh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02758-EA0B-4AF9-89D9-13E287B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41600"/>
            <a:ext cx="1619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F18AC-2B1C-456D-A773-789D5B2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08275"/>
            <a:ext cx="1466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4B5CC-D9CE-481F-8A0E-1450178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41600"/>
            <a:ext cx="285750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760E0-687F-47DF-AFE6-95DFF65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08275"/>
            <a:ext cx="270510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padded one-hot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671EA-A448-4425-A58C-1C7A9EC0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41600"/>
            <a:ext cx="4667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B7705-53E6-4090-B51D-1782813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08275"/>
            <a:ext cx="4514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only needed if the model is called again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5358F-3B52-42DE-8065-F05FFB5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8175"/>
            <a:ext cx="18097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A8A05-711B-4992-9CC3-C7C13BE6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44850"/>
            <a:ext cx="16573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decoded rows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587E3-2680-4D50-B349-E879080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78175"/>
            <a:ext cx="1619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97F87-861C-48CB-A5CC-070F2DB1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44850"/>
            <a:ext cx="1466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(2,D)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DB16CD-701D-4C4E-8E48-82D299F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78175"/>
            <a:ext cx="285750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CE356-8522-4D5B-B274-F77B418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44850"/>
            <a:ext cx="270510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labels or original categories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558AEF-00CC-4B64-A80C-D3A279A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78175"/>
            <a:ext cx="4667250" cy="53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3B6204-196F-4F5F-8D10-2B85C246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44850"/>
            <a:ext cx="451485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final generated categorical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39F44-1449-4DDA-A017-7090FB3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515"/>
                </a:solidFill>
              </a:defRPr>
            </a:pPr>
            <a:r>
              <a:rPr sz="1800" b="1">
                <a:solidFill>
                  <a:srgbClr val="151515"/>
                </a:solidFill>
              </a:rPr>
              <a:t>No argmax repair is needed after sampling. The sampler never leaves the valid categorical state space.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D31508-E2CB-4CEB-98FF-9A54B6FB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22DA81-B7AC-4FD7-B031-22F7B20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95925"/>
            <a:ext cx="9544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Code evidence: direct decoding is my modification. The repo's tabular one-hot loaders do not implement generated-sample decoding in the DMALA path.</a:t>
            </a:r>
          </a:p>
        </p:txBody>
      </p:sp>
    </p:spTree>
    <p:extLst>
      <p:ext uri="{BB962C8B-B14F-4D97-AF65-F5344CB8AC3E}">
        <p14:creationId xmlns:p14="http://schemas.microsoft.com/office/powerpoint/2010/main" val="1910492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697E5-6C69-45B0-9E55-1825E8C0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Where the repo ends and the modification begins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4E45C-C2F2-4810-85B2-9BF8D7A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E683-6412-4C43-A905-03977002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5A52"/>
                </a:solidFill>
              </a:defRPr>
            </a:pPr>
            <a:r>
              <a:rPr sz="1725" b="0">
                <a:solidFill>
                  <a:srgbClr val="5F5A52"/>
                </a:solidFill>
              </a:rPr>
              <a:t>The current code provides the binary DMALA structure and a categorical toy example. The masked variable-cardinality pipeline combines those ideas.</a:t>
            </a:r>
          </a:p>
        </p:txBody>
      </p:sp>
    </p:spTree>
    <p:extLst>
      <p:ext uri="{BB962C8B-B14F-4D97-AF65-F5344CB8AC3E}">
        <p14:creationId xmlns:p14="http://schemas.microsoft.com/office/powerpoint/2010/main" val="1369174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A0340-9EAC-4D1D-B062-3B926395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The code evidence maps to specific parts of the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DE20A-60A3-4D8E-B973-9767A918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17D1E-10E2-4BDF-84DD-8B7A04CD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19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FCB4F-856B-40B2-8564-190E0D3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95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Pipeline part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B5D2F-CE1E-4F89-B273-8AF5E2F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7970B-7404-42ED-81B6-1BB54E7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9545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Repo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A218-EE16-4263-8F22-6C280B4D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68690-46F9-4AA4-9BF1-BE67CD2B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6954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35CB4-04AC-4E87-817E-C466BA2C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621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10F0B-C85A-460E-A4EB-67AC77B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28825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DMALA MH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69C43-94BA-4DA5-A567-B4532A64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62150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689E3-D194-4D8E-87B3-D985B19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28825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samplers.py::LangevinSampler(mh=True)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94145-E6A2-47F0-AB31-0EDD8EE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62150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C6FE7-11B7-45A1-83D0-4D01138C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28825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78134-DD8A-4E7C-9C55-E0E0C0D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2887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39D87-24C8-4BB9-AA4E-643F845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95550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binary difference /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96101-EA65-4383-9B06-A651106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28875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B2180-3B27-428D-96C5-4BCE5265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95550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utils.approx_difference_function + LangevinSampler.step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755B5-D06A-42E2-A9E0-DDC8DF7D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6405B-C373-4782-AAAC-C1995A65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95550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implemented for flat binary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4BD46-CC29-4BE2-874C-B92970CD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727FC-BECB-4D53-9470-66F4E8B8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62275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integer categorical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BB74E-9007-4CCC-AB7E-CBE991EA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FC17F-1EEE-4845-9160-18FE7A39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62275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CategoricalExample/samplers.py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2F01B-16B2-4F04-903B-CBCAAC9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95600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20CE-5CCE-4B2D-A76C-C98294E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62275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implemented as toy example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166C0-47AA-464D-AF25-6A30165D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6232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93D2F-15DC-48A8-B150-92298CA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29000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one-hot for scoring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B013B-22BE-4380-8FA8-4ABDF033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14E6C6-B451-4BBD-82E0-4FB5192A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29000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CategoricalExample::to_one_hot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4B947-78A0-4035-88A5-13ED90CA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FC99E6-1A9E-4FAC-A414-B20D1875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29000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implemented with shared num_cls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7823D2-9043-4050-942B-9D71D8B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29101-496C-4DB8-9A75-9FBBA16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95725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variable cardinality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44CDE-2BB6-41F1-AE8E-DB19374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29050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37C6AB-7577-407C-9145-168729A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95725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cardinalities + valid_mask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9B7D8F-CD98-4360-BD8C-C4B11FF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5188F5-A6E5-452B-84FE-8FA84B7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95725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my modification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23C3B1-B669-426C-8C76-F459583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9577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65EBA5-6435-4289-B336-9BEF27A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62450"/>
            <a:ext cx="2324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masked categorical proposal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0FA082-E1A9-4CA8-86BD-7AAE102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95775"/>
            <a:ext cx="590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82B789-9EB9-47FD-83B4-0E53F373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62450"/>
            <a:ext cx="575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mask invalid logits before Categorical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69BDDC-7CF5-4F2F-9E08-4CE4A033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95775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D398AA-395C-47E6-B9C7-6D5AFE4D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62450"/>
            <a:ext cx="2800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my modification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C69E9A-3F2F-45E4-BBF4-127DBA1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55E666-F28A-46DC-BE3B-FE71DBBA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305425"/>
            <a:ext cx="916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This slide is the boundary marker: it separates what can be cited from the repo from what must be presented as an extension.</a:t>
            </a:r>
          </a:p>
        </p:txBody>
      </p:sp>
    </p:spTree>
    <p:extLst>
      <p:ext uri="{BB962C8B-B14F-4D97-AF65-F5344CB8AC3E}">
        <p14:creationId xmlns:p14="http://schemas.microsoft.com/office/powerpoint/2010/main" val="12827821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3A8A9-11B3-4D02-9365-8E102F2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The full loop repeats the same state transition many times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A999-44C4-47AD-AD9B-A06C58C6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33640-C6C0-41E7-8DA9-5D9406B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DA9B5-0D82-4EDE-93AD-3E318B1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Loop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1490-13AF-4C19-81AB-44A44477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D7C6D-41C8-4D4A-B127-72FBF8F0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430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Input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4C0A4-4356-4CC3-A7B1-8E1F605F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688EA-BA20-40B4-AEF4-3E8A5CCC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430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Output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A31CD-46B3-4890-8494-9225A2D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97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817AB-77B4-4F48-BA99-C7F267D9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start from x_int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22050-6502-4C86-8434-54F714AB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97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7CE68-56CC-4991-AF4C-34E0FA5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116A-13FA-4F95-8117-2B3E50ED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2145A-1DE9-4E0C-938E-00485334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26F04-60D2-4DEB-894D-AD6567E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A245D-C60E-43D5-81AD-C09701B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one-hot encode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54119-EF1E-44AC-9FB2-4D90EBF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ED9E9-E14C-415A-AC4E-8ADBC7D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D00C1-39D6-44C4-AE3B-E5DBA94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E1361-E42A-4CB3-B3FF-F38D67A6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94D7A-32B5-4D6F-970B-9FECCC7D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C9ECF-A294-4379-8A34-4BDDCBDA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compute gradient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269C1-AA2F-434E-89CC-C3AF018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E3269-F415-44F1-A77E-E8098EA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321AE-7B05-4DCF-9686-42431874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479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EBAC20-D152-4FA5-9E95-016E2CDC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1EF52-3065-41FF-8045-BAE823C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C6B6A-3426-40C1-B836-3FAE7892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make masked logits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B926F9-C931-4B31-9598-871E7E51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670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C1E2F-7F08-4DD8-8BB8-EE12377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 + (3,4)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BD981-33E1-447A-B335-1C8B089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670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2BEB70-910E-4E79-859E-5DCD4C6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7BD034-2599-4526-A78E-C9776A8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861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3F4E3-4461-46D8-98A0-4844D10B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sample proposal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2C35D-9F8C-4B73-AD09-25C8A662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861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B607B-B1A6-452F-9BDA-51D6C599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528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(2,3,4)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53AB17-A45C-407B-9293-91AA3BC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70B120-D629-459C-970F-8B8C8302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30E2F3-3123-48A4-97F8-4D2A8894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F873FD-5477-4E90-858F-0137F95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MH accept/reject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A8EE02-33FC-4028-832B-85F4BE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052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F8E4B0-5FC6-4E99-B83F-246423F7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(2,3), (2,), (2,)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6015E-C798-47A6-B338-D5064D7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052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A11C10-8CCA-44AF-BF0D-BB49E8FB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(2,3)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63ABA-5C8E-4BC4-8CE7-3976754D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After each iteration, x_next becomes the new x_int.</a:t>
            </a:r>
          </a:p>
        </p:txBody>
      </p:sp>
    </p:spTree>
    <p:extLst>
      <p:ext uri="{BB962C8B-B14F-4D97-AF65-F5344CB8AC3E}">
        <p14:creationId xmlns:p14="http://schemas.microsoft.com/office/powerpoint/2010/main" val="13424001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108BD7-725D-4000-A60A-10B9C544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The main message is the execution path through tensors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80909-9237-413D-8A47-A3B9107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D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6961-F344-43AD-BD01-E18D92D4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277A-4D91-42FA-86A6-CC4DCFD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sampler state is compact: one integer per feature, shape (B,D).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3721-FBC2-4CDE-A766-A12B54D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3F4C6-F659-40E9-A76A-713DEA8B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model input is expanded only temporarily to padded one-hot, shape (B,D,K).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46EF6-92C9-4D50-BDD4-6B8D91B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A064A-DB66-4ADD-9222-3696CFB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gradient and proposal scores live on the padded tensor, shape (B,D,K).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844FA-0B64-40A0-8D99-E0BA930D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BC65E-C9DB-4F96-AAF6-2CA6A997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validity mask removes padded classes before sampling.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B316E-680F-4349-B1BC-42959188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34"/>
          </a:solidFill>
          <a:ln xmlns:a="http://schemas.openxmlformats.org/drawingml/2006/main" w="9525">
            <a:solidFill>
              <a:srgbClr val="C85B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1ECCF-98CF-4D22-9BF2-D5039873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MH correction decides whether x_delta_int becomes the next x_int.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A6278-A1D6-4FFC-9E68-7E60E24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2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2B529-8757-45BD-A4A7-3F67E6F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86425"/>
            <a:ext cx="935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</a:defRPr>
            </a:pPr>
            <a:r>
              <a:rPr sz="1275" b="0">
                <a:solidFill>
                  <a:srgbClr val="151515"/>
                </a:solidFill>
              </a:rPr>
              <a:t>This is the pipeline explanation to present first. Flattening can be mentioned only briefly as a different representation that does not enforce this categorical state transition.</a:t>
            </a:r>
          </a:p>
        </p:txBody>
      </p:sp>
    </p:spTree>
    <p:extLst>
      <p:ext uri="{BB962C8B-B14F-4D97-AF65-F5344CB8AC3E}">
        <p14:creationId xmlns:p14="http://schemas.microsoft.com/office/powerpoint/2010/main" val="226974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2026-07-15T02:22:59.9830000Z</dcterms:created>
  <dcterms:modified xsi:type="dcterms:W3CDTF">2026-07-15T02:22:59.9830000Z</dcterms:modified>
</coreProperties>
</file>