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6733336c4740b4" /><Relationship Type="http://schemas.openxmlformats.org/officeDocument/2006/relationships/extended-properties" Target="/docProps/app.xml" Id="R682ec2b624b4471f" /><Relationship Type="http://schemas.openxmlformats.org/officeDocument/2006/relationships/officeDocument" Target="/ppt/presentation.xml" Id="R785cbf997db443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c295b509d947ad"/>
  </p:sldMasterIdLst>
  <p:notesMasterIdLst>
    <p:notesMasterId xmlns:r="http://schemas.openxmlformats.org/officeDocument/2006/relationships" r:id="Rc522c6badde84bca"/>
  </p:notesMasterIdLst>
  <p:sldIdLst>
    <p:sldId xmlns:r="http://schemas.openxmlformats.org/officeDocument/2006/relationships" id="256" r:id="R10a6e8df14554843"/>
    <p:sldId xmlns:r="http://schemas.openxmlformats.org/officeDocument/2006/relationships" id="257" r:id="R51951fbd7b8a4d97"/>
    <p:sldId xmlns:r="http://schemas.openxmlformats.org/officeDocument/2006/relationships" id="258" r:id="Reba8a370ff3e43eb"/>
    <p:sldId xmlns:r="http://schemas.openxmlformats.org/officeDocument/2006/relationships" id="259" r:id="R23c85d09d51746a3"/>
    <p:sldId xmlns:r="http://schemas.openxmlformats.org/officeDocument/2006/relationships" id="260" r:id="R532e89d3a6fc4102"/>
    <p:sldId xmlns:r="http://schemas.openxmlformats.org/officeDocument/2006/relationships" id="261" r:id="R986d754a688d4029"/>
    <p:sldId xmlns:r="http://schemas.openxmlformats.org/officeDocument/2006/relationships" id="262" r:id="Rce5ce47731064585"/>
    <p:sldId xmlns:r="http://schemas.openxmlformats.org/officeDocument/2006/relationships" id="263" r:id="R191cbbd37cab4519"/>
    <p:sldId xmlns:r="http://schemas.openxmlformats.org/officeDocument/2006/relationships" id="264" r:id="R238e73102c494b5e"/>
    <p:sldId xmlns:r="http://schemas.openxmlformats.org/officeDocument/2006/relationships" id="265" r:id="Ra39f36958a154d5b"/>
    <p:sldId xmlns:r="http://schemas.openxmlformats.org/officeDocument/2006/relationships" id="266" r:id="R3db9156e9a48492f"/>
    <p:sldId xmlns:r="http://schemas.openxmlformats.org/officeDocument/2006/relationships" id="267" r:id="R794e540ce9b64db6"/>
    <p:sldId xmlns:r="http://schemas.openxmlformats.org/officeDocument/2006/relationships" id="268" r:id="Rbd266ce2b5ef414e"/>
    <p:sldId xmlns:r="http://schemas.openxmlformats.org/officeDocument/2006/relationships" id="269" r:id="Re7740228a8ca4f32"/>
    <p:sldId xmlns:r="http://schemas.openxmlformats.org/officeDocument/2006/relationships" id="270" r:id="Re482e69c26f94fea"/>
    <p:sldId xmlns:r="http://schemas.openxmlformats.org/officeDocument/2006/relationships" id="271" r:id="Rd19ffa01f7cd47bd"/>
    <p:sldId xmlns:r="http://schemas.openxmlformats.org/officeDocument/2006/relationships" id="272" r:id="Rd854a4354a4945c5"/>
    <p:sldId xmlns:r="http://schemas.openxmlformats.org/officeDocument/2006/relationships" id="273" r:id="R0873034e0bdc4aba"/>
    <p:sldId xmlns:r="http://schemas.openxmlformats.org/officeDocument/2006/relationships" id="274" r:id="Rd26e299c348a4ede"/>
    <p:sldId xmlns:r="http://schemas.openxmlformats.org/officeDocument/2006/relationships" id="275" r:id="R008d0b028b1b46c9"/>
    <p:sldId xmlns:r="http://schemas.openxmlformats.org/officeDocument/2006/relationships" id="276" r:id="R21cc59999c4f41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c9b64513d640ff" /><Relationship Type="http://schemas.openxmlformats.org/officeDocument/2006/relationships/slideMaster" Target="/ppt/slideMasters/slideMaster1.xml" Id="Ra2c295b509d947ad" /><Relationship Type="http://schemas.openxmlformats.org/officeDocument/2006/relationships/notesMaster" Target="/ppt/notesMasters/notesMaster1.xml" Id="Rc522c6badde84bca" /><Relationship Type="http://schemas.openxmlformats.org/officeDocument/2006/relationships/presProps" Target="/ppt/presProps.xml" Id="Reff623ba2a644338" /><Relationship Type="http://schemas.openxmlformats.org/officeDocument/2006/relationships/tableStyles" Target="/ppt/tableStyles.xml" Id="R88c65390824243e7" /><Relationship Type="http://schemas.openxmlformats.org/officeDocument/2006/relationships/slide" Target="/ppt/slides/slide1.xml" Id="R10a6e8df14554843" /><Relationship Type="http://schemas.openxmlformats.org/officeDocument/2006/relationships/slide" Target="/ppt/slides/slide2.xml" Id="R51951fbd7b8a4d97" /><Relationship Type="http://schemas.openxmlformats.org/officeDocument/2006/relationships/slide" Target="/ppt/slides/slide3.xml" Id="Reba8a370ff3e43eb" /><Relationship Type="http://schemas.openxmlformats.org/officeDocument/2006/relationships/slide" Target="/ppt/slides/slide4.xml" Id="R23c85d09d51746a3" /><Relationship Type="http://schemas.openxmlformats.org/officeDocument/2006/relationships/slide" Target="/ppt/slides/slide5.xml" Id="R532e89d3a6fc4102" /><Relationship Type="http://schemas.openxmlformats.org/officeDocument/2006/relationships/slide" Target="/ppt/slides/slide6.xml" Id="R986d754a688d4029" /><Relationship Type="http://schemas.openxmlformats.org/officeDocument/2006/relationships/slide" Target="/ppt/slides/slide7.xml" Id="Rce5ce47731064585" /><Relationship Type="http://schemas.openxmlformats.org/officeDocument/2006/relationships/slide" Target="/ppt/slides/slide8.xml" Id="R191cbbd37cab4519" /><Relationship Type="http://schemas.openxmlformats.org/officeDocument/2006/relationships/slide" Target="/ppt/slides/slide9.xml" Id="R238e73102c494b5e" /><Relationship Type="http://schemas.openxmlformats.org/officeDocument/2006/relationships/slide" Target="/ppt/slides/slide10.xml" Id="Ra39f36958a154d5b" /><Relationship Type="http://schemas.openxmlformats.org/officeDocument/2006/relationships/slide" Target="/ppt/slides/slide11.xml" Id="R3db9156e9a48492f" /><Relationship Type="http://schemas.openxmlformats.org/officeDocument/2006/relationships/slide" Target="/ppt/slides/slide12.xml" Id="R794e540ce9b64db6" /><Relationship Type="http://schemas.openxmlformats.org/officeDocument/2006/relationships/slide" Target="/ppt/slides/slide13.xml" Id="Rbd266ce2b5ef414e" /><Relationship Type="http://schemas.openxmlformats.org/officeDocument/2006/relationships/slide" Target="/ppt/slides/slide14.xml" Id="Re7740228a8ca4f32" /><Relationship Type="http://schemas.openxmlformats.org/officeDocument/2006/relationships/slide" Target="/ppt/slides/slide15.xml" Id="Re482e69c26f94fea" /><Relationship Type="http://schemas.openxmlformats.org/officeDocument/2006/relationships/slide" Target="/ppt/slides/slide16.xml" Id="Rd19ffa01f7cd47bd" /><Relationship Type="http://schemas.openxmlformats.org/officeDocument/2006/relationships/slide" Target="/ppt/slides/slide17.xml" Id="Rd854a4354a4945c5" /><Relationship Type="http://schemas.openxmlformats.org/officeDocument/2006/relationships/slide" Target="/ppt/slides/slide18.xml" Id="R0873034e0bdc4aba" /><Relationship Type="http://schemas.openxmlformats.org/officeDocument/2006/relationships/slide" Target="/ppt/slides/slide19.xml" Id="Rd26e299c348a4ede" /><Relationship Type="http://schemas.openxmlformats.org/officeDocument/2006/relationships/slide" Target="/ppt/slides/slide20.xml" Id="R008d0b028b1b46c9" /><Relationship Type="http://schemas.openxmlformats.org/officeDocument/2006/relationships/slide" Target="/ppt/slides/slide21.xml" Id="R21cc59999c4f41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92ef3f96114e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8f5aab97084330" /><Relationship Type="http://schemas.openxmlformats.org/officeDocument/2006/relationships/notesMaster" Target="/ppt/notesMasters/notesMaster1.xml" Id="Ra8e227cb12964a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655846b4f84cc0" /><Relationship Type="http://schemas.openxmlformats.org/officeDocument/2006/relationships/notesMaster" Target="/ppt/notesMasters/notesMaster1.xml" Id="R0792664696ce48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41907b64ad4e00" /><Relationship Type="http://schemas.openxmlformats.org/officeDocument/2006/relationships/notesMaster" Target="/ppt/notesMasters/notesMaster1.xml" Id="R2d33b131cff04c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35e91731ce4672" /><Relationship Type="http://schemas.openxmlformats.org/officeDocument/2006/relationships/notesMaster" Target="/ppt/notesMasters/notesMaster1.xml" Id="Re65e8e23fd1c4c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0d7fef8c37422c" /><Relationship Type="http://schemas.openxmlformats.org/officeDocument/2006/relationships/notesMaster" Target="/ppt/notesMasters/notesMaster1.xml" Id="R391026debece4e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30933ba71741ed" /><Relationship Type="http://schemas.openxmlformats.org/officeDocument/2006/relationships/notesMaster" Target="/ppt/notesMasters/notesMaster1.xml" Id="R4be2a6b616cb4e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265f9e36384e30" /><Relationship Type="http://schemas.openxmlformats.org/officeDocument/2006/relationships/notesMaster" Target="/ppt/notesMasters/notesMaster1.xml" Id="R9ab29038832647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ce0de10e964c40" /><Relationship Type="http://schemas.openxmlformats.org/officeDocument/2006/relationships/notesMaster" Target="/ppt/notesMasters/notesMaster1.xml" Id="Ra59812277fa341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b1b631d61f4fd5" /><Relationship Type="http://schemas.openxmlformats.org/officeDocument/2006/relationships/notesMaster" Target="/ppt/notesMasters/notesMaster1.xml" Id="R518332528e7540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af861f27ed4257" /><Relationship Type="http://schemas.openxmlformats.org/officeDocument/2006/relationships/notesMaster" Target="/ppt/notesMasters/notesMaster1.xml" Id="R6eec2a38b70545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797579cf744631" /><Relationship Type="http://schemas.openxmlformats.org/officeDocument/2006/relationships/notesMaster" Target="/ppt/notesMasters/notesMaster1.xml" Id="R6f97bd07e90c4d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6d1d9e0e5a4d7d" /><Relationship Type="http://schemas.openxmlformats.org/officeDocument/2006/relationships/notesMaster" Target="/ppt/notesMasters/notesMaster1.xml" Id="Rae5ae917d22b42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c7ceebc0ab47e2" /><Relationship Type="http://schemas.openxmlformats.org/officeDocument/2006/relationships/notesMaster" Target="/ppt/notesMasters/notesMaster1.xml" Id="R2e9d4475d6bb49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85aea1a4aa451b" /><Relationship Type="http://schemas.openxmlformats.org/officeDocument/2006/relationships/notesMaster" Target="/ppt/notesMasters/notesMaster1.xml" Id="R9d508010100f42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248968535d45d7" /><Relationship Type="http://schemas.openxmlformats.org/officeDocument/2006/relationships/notesMaster" Target="/ppt/notesMasters/notesMaster1.xml" Id="R3b8f4889368445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9dd485916f4516" /><Relationship Type="http://schemas.openxmlformats.org/officeDocument/2006/relationships/notesMaster" Target="/ppt/notesMasters/notesMaster1.xml" Id="Rd46a0a5bbd564a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661b1e23e64e3d" /><Relationship Type="http://schemas.openxmlformats.org/officeDocument/2006/relationships/notesMaster" Target="/ppt/notesMasters/notesMaster1.xml" Id="R8310f098e8c44bc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2d7ba6ba8da4d86" /><Relationship Type="http://schemas.openxmlformats.org/officeDocument/2006/relationships/notesMaster" Target="/ppt/notesMasters/notesMaster1.xml" Id="R55297156130a4fd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be845d39114ba2" /><Relationship Type="http://schemas.openxmlformats.org/officeDocument/2006/relationships/notesMaster" Target="/ppt/notesMasters/notesMaster1.xml" Id="Re2700693437b4b4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35627aafb441c4" /><Relationship Type="http://schemas.openxmlformats.org/officeDocument/2006/relationships/notesMaster" Target="/ppt/notesMasters/notesMaster1.xml" Id="R367ca58b73394b8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64cf18b06f64edd" /><Relationship Type="http://schemas.openxmlformats.org/officeDocument/2006/relationships/notesMaster" Target="/ppt/notesMasters/notesMaster1.xml" Id="Rc494b84cccb04c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179f032a846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e1e7c67f654ed8" /><Relationship Type="http://schemas.openxmlformats.org/officeDocument/2006/relationships/slideLayout" Target="/ppt/slideLayouts/slideLayout1.xml" Id="R3567cab7051b42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67cab7051b42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0f21bfd994e41" /><Relationship Type="http://schemas.openxmlformats.org/officeDocument/2006/relationships/notesSlide" Target="/ppt/notesSlides/notesSlide1.xml" Id="Rdcedbf79564748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d824624a944aa" /><Relationship Type="http://schemas.openxmlformats.org/officeDocument/2006/relationships/notesSlide" Target="/ppt/notesSlides/notesSlide2.xml" Id="Rf1423246f4db41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f2da83eee42f4" /><Relationship Type="http://schemas.openxmlformats.org/officeDocument/2006/relationships/notesSlide" Target="/ppt/notesSlides/notesSlide3.xml" Id="R02d2be02f8ae49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9677161ad4a8e" /><Relationship Type="http://schemas.openxmlformats.org/officeDocument/2006/relationships/notesSlide" Target="/ppt/notesSlides/notesSlide4.xml" Id="Rb2222a8f9c4d43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0bfe8fbf74b72" /><Relationship Type="http://schemas.openxmlformats.org/officeDocument/2006/relationships/notesSlide" Target="/ppt/notesSlides/notesSlide5.xml" Id="Rad6c5f4e4ecd4e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5c4edcf654ea0" /><Relationship Type="http://schemas.openxmlformats.org/officeDocument/2006/relationships/notesSlide" Target="/ppt/notesSlides/notesSlide6.xml" Id="Rdbfc719db55d47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8f7bf4bf44ead" /><Relationship Type="http://schemas.openxmlformats.org/officeDocument/2006/relationships/notesSlide" Target="/ppt/notesSlides/notesSlide7.xml" Id="R6ffdcf4379a842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120f7525b4ef7" /><Relationship Type="http://schemas.openxmlformats.org/officeDocument/2006/relationships/notesSlide" Target="/ppt/notesSlides/notesSlide8.xml" Id="Rae34f1093dae47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c45bfef9c4f99" /><Relationship Type="http://schemas.openxmlformats.org/officeDocument/2006/relationships/notesSlide" Target="/ppt/notesSlides/notesSlide9.xml" Id="R4c29a2e39f0e4d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229e5e0b84019" /><Relationship Type="http://schemas.openxmlformats.org/officeDocument/2006/relationships/notesSlide" Target="/ppt/notesSlides/notesSlide10.xml" Id="R9725f408f41b40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016af610047c3" /><Relationship Type="http://schemas.openxmlformats.org/officeDocument/2006/relationships/notesSlide" Target="/ppt/notesSlides/notesSlide11.xml" Id="R5ccd773d3b0a48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365f11d4e4b33" /><Relationship Type="http://schemas.openxmlformats.org/officeDocument/2006/relationships/notesSlide" Target="/ppt/notesSlides/notesSlide12.xml" Id="Re6fe5ac60e7e45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280468bd440ca" /><Relationship Type="http://schemas.openxmlformats.org/officeDocument/2006/relationships/notesSlide" Target="/ppt/notesSlides/notesSlide13.xml" Id="R215f5ba39ca64a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cc4d99d4748c7" /><Relationship Type="http://schemas.openxmlformats.org/officeDocument/2006/relationships/notesSlide" Target="/ppt/notesSlides/notesSlide14.xml" Id="R00c6b84edd0a47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3f9056ab340b0" /><Relationship Type="http://schemas.openxmlformats.org/officeDocument/2006/relationships/notesSlide" Target="/ppt/notesSlides/notesSlide15.xml" Id="R5d76c69237de4f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1a9df6d284c0f" /><Relationship Type="http://schemas.openxmlformats.org/officeDocument/2006/relationships/notesSlide" Target="/ppt/notesSlides/notesSlide16.xml" Id="R662a3679498e4ba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4547a4d7542bc" /><Relationship Type="http://schemas.openxmlformats.org/officeDocument/2006/relationships/notesSlide" Target="/ppt/notesSlides/notesSlide17.xml" Id="R5159bb84d98642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1a7cac7db4129" /><Relationship Type="http://schemas.openxmlformats.org/officeDocument/2006/relationships/notesSlide" Target="/ppt/notesSlides/notesSlide18.xml" Id="R97ae8ffd24d942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31a57514f49dd" /><Relationship Type="http://schemas.openxmlformats.org/officeDocument/2006/relationships/notesSlide" Target="/ppt/notesSlides/notesSlide19.xml" Id="R5830fc17b4e34f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56738ded44492" /><Relationship Type="http://schemas.openxmlformats.org/officeDocument/2006/relationships/notesSlide" Target="/ppt/notesSlides/notesSlide20.xml" Id="Refb67f3655fa47a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455885d5e4bd8" /><Relationship Type="http://schemas.openxmlformats.org/officeDocument/2006/relationships/notesSlide" Target="/ppt/notesSlides/notesSlide21.xml" Id="R1a5c81d1abfd48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FDBA45-F22D-4C3E-8B5C-5AA385DE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51515"/>
                </a:solidFill>
              </a:defRPr>
            </a:pPr>
            <a:r>
              <a:rPr sz="4050" b="1">
                <a:solidFill>
                  <a:srgbClr val="151515"/>
                </a:solidFill>
              </a:rPr>
              <a:t>Categorical Sampling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F1985-3603-4151-AE64-B3BFC2BE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E5A54"/>
                </a:solidFill>
              </a:defRPr>
            </a:pPr>
            <a:r>
              <a:rPr sz="1950" b="0">
                <a:solidFill>
                  <a:srgbClr val="5E5A54"/>
                </a:solidFill>
              </a:rPr>
              <a:t>From flattened one-hot risk to a masked categorical sampler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D07EE-D8A2-4323-8428-5EED4C0C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685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2098A-4D67-4CC9-B131-D9ACE890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03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Focus: variable-cardinality categorical features and generation validity</a:t>
            </a:r>
          </a:p>
        </p:txBody>
      </p:sp>
    </p:spTree>
    <p:extLst>
      <p:ext uri="{BB962C8B-B14F-4D97-AF65-F5344CB8AC3E}">
        <p14:creationId xmlns:p14="http://schemas.microsoft.com/office/powerpoint/2010/main" val="937439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D0797E-A0C6-4918-A0B0-7348209E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5A54"/>
                </a:solidFill>
              </a:defRPr>
            </a:pPr>
            <a:r>
              <a:rPr sz="975" b="1">
                <a:solidFill>
                  <a:srgbClr val="5E5A54"/>
                </a:solidFill>
              </a:rPr>
              <a:t>CORE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46E44-F37D-4F74-A0B3-112C8F13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Flattened one-hot runs, but it does not guarantee valid generated categories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0407E-C125-4C40-9334-F73990AD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79D94-EC0C-4D43-B715-9D22026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53341-4F74-4F94-B7A2-CB7B008B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905000"/>
            <a:ext cx="931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The tabular loaders can expand each categorical feature into its own one-hot block.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595EF-4C98-4149-A2EF-49AC3275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C90FA-F9E0-4BAB-8140-9B09DF26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438400"/>
            <a:ext cx="931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DMALA on the flattened vector treats every one-hot column as an independent binary coordinate.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622E7-67ED-415E-A52C-D7F1ADDF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46589-5319-40C5-B897-B2031EE5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71800"/>
            <a:ext cx="931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The CategoricalExample avoids invalid one-hot vectors by sampling integer class states.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31C07-01A9-4290-9C40-7377FE84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0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9C8CE-EE44-4E61-BC43-52DEECBE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505200"/>
            <a:ext cx="931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For variable cardinalities, the categorical approach needs padding plus a validity mask.</a:t>
            </a:r>
          </a:p>
        </p:txBody>
      </p:sp>
    </p:spTree>
    <p:extLst>
      <p:ext uri="{BB962C8B-B14F-4D97-AF65-F5344CB8AC3E}">
        <p14:creationId xmlns:p14="http://schemas.microsoft.com/office/powerpoint/2010/main" val="1069867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CD64B2-072D-4632-AB1C-951DAF29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15"/>
                </a:solidFill>
              </a:defRPr>
            </a:pPr>
            <a:r>
              <a:rPr sz="3900" b="1">
                <a:solidFill>
                  <a:srgbClr val="151515"/>
                </a:solidFill>
              </a:rPr>
              <a:t>What exists in the repo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5BF01-50DD-4401-912A-04F423EB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90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8528D-7F1A-4128-8F49-E72E00DE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A54"/>
                </a:solidFill>
              </a:defRPr>
            </a:pPr>
            <a:r>
              <a:rPr sz="1650" b="0">
                <a:solidFill>
                  <a:srgbClr val="5E5A54"/>
                </a:solidFill>
              </a:rPr>
              <a:t>Separate implemented behavior from the modification we would use for valid categorical generation.</a:t>
            </a:r>
          </a:p>
        </p:txBody>
      </p:sp>
    </p:spTree>
    <p:extLst>
      <p:ext uri="{BB962C8B-B14F-4D97-AF65-F5344CB8AC3E}">
        <p14:creationId xmlns:p14="http://schemas.microsoft.com/office/powerpoint/2010/main" val="393025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F3EB9F-365F-476C-A98E-412BB8BA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Flattened one-hot is preprocessing, not categorical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6F92F-C738-4C58-BF02-8E37373B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ACFB4-E463-4CDE-B950-C475CE28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61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0D9F3-D6F7-41A1-9E49-0A0D513C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53149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BinaryBNN/adult_loader.py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mat = generate_one_hot_mat(mat)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start_index.append(adult_feature_normalized.shape[1])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cat_length.append(mat.shape[1])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adult_feature_normalized = np.concatenate((adult_feature_normalized, mat), axis=1)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6CB2D-DDE5-4D05-BDBD-ABCACB2C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76FC3-C6C4-4197-B6C0-7C14F14A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383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Original feature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DC1B1-7BA6-433B-B1D2-C6FAEC6E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BB850-5C42-4707-A87F-683D1D4F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383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Cardinality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66D3F-BC66-4CB1-BA5F-FA31BFEF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62125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54EFF-DD3D-4505-BACD-71FC7564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383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Encoded 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759A0-90D0-4F7C-AE60-1B43B7A3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05025"/>
            <a:ext cx="161925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F66D9-A612-4133-9F3B-504BF115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146685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89C43-BA9F-4C39-A997-D0FF9C50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05025"/>
            <a:ext cx="114300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DC167-2362-4672-9E49-D15AA58C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99060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C20CE-7682-4395-B7AB-E786F559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05025"/>
            <a:ext cx="180975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0AAC1-74FF-4ACF-B8F5-823FFAC6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65735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[A0, A1]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99EC2-542A-4606-AA50-9914B40C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0475"/>
            <a:ext cx="161925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4BA60-BCD8-4739-891D-1D2B3FEC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7150"/>
            <a:ext cx="146685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77964-259A-498D-BD5F-3577A0D6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0475"/>
            <a:ext cx="114300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81CA79-ACDD-433B-91DA-99831F23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97150"/>
            <a:ext cx="99060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88766-395A-48AD-9F58-9ABF6CDF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0475"/>
            <a:ext cx="180975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1FAA2-BCC8-41F5-9D76-6D4F336C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97150"/>
            <a:ext cx="165735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[B0, B1, B2, B3]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B6A7F-6812-4E56-BB11-6B136E79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5925"/>
            <a:ext cx="161925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50CD0-AE44-4BD3-BDAE-DE918C47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22600"/>
            <a:ext cx="146685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815209-BA22-498B-881B-5C3B3462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5925"/>
            <a:ext cx="114300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AF7D0E-D280-4C99-8747-8B14D4E0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2600"/>
            <a:ext cx="99060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537832-9429-4762-920D-B76C625E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5925"/>
            <a:ext cx="180975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01EB8F-C2B1-4C10-AA1F-CC8530E0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2600"/>
            <a:ext cx="165735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[C0, C1, C2]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B2DEB-A64B-4705-B5AA-A27D431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After concatenation: x.shape = (batch_size, 9). The sampler no longer sees A, B, and C as separate categorical variables.</a:t>
            </a:r>
          </a:p>
        </p:txBody>
      </p:sp>
    </p:spTree>
    <p:extLst>
      <p:ext uri="{BB962C8B-B14F-4D97-AF65-F5344CB8AC3E}">
        <p14:creationId xmlns:p14="http://schemas.microsoft.com/office/powerpoint/2010/main" val="82610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E51593-E885-440B-8410-DA36D794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DMALA on flat one-hot can leave the valid categorical 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39D07-E1CF-4795-AF02-2293AC8A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2262E-5DAE-467F-9393-39EB7CF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B12E3-75BD-4271-8649-93B6ED0D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Block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310F9-AB5D-4B63-97F2-4FF978B0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097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026E3-E9CB-4264-81C8-C6DDE19A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859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Before DMALA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F318B-337D-4EB2-8D0E-2B573F72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92D36-A176-4106-97A6-C3C97CD4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859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Possible after bit flips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E396E-FEC3-4124-8038-07477F6C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ED204-047D-459A-99EE-114E3D81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859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C29FC-9CCB-4FD3-942B-6BA9AD26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42875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8DF12-9A8E-495C-87F5-1664F913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2763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4584F-8D20-4C65-86B9-59E4C116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52650"/>
            <a:ext cx="266700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F3B20-F7B7-4CBE-B4C0-66CA59D2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19325"/>
            <a:ext cx="25146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[0, 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BF710-6C9D-4AD0-8215-9DE9FCA8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342900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E98D3-E7AB-48C5-BC63-79658F76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19325"/>
            <a:ext cx="32766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[1, 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4C5CC-E15A-4815-A02F-3E33A5F1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314325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23D0A-7019-4856-A012-07F89244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29908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invalid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C2CCF-D971-45DC-A395-C86FFB02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6850"/>
            <a:ext cx="142875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49FA4-4540-4AAB-AE48-C5005332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3525"/>
            <a:ext cx="12763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A3FA5-D46C-4FF5-B39A-41443597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36850"/>
            <a:ext cx="266700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32646-84E4-4FB2-8C9B-CA64C1B8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03525"/>
            <a:ext cx="25146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[0, 0, 1, 0]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693D3-4554-4703-AAF7-0B0528B4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36850"/>
            <a:ext cx="342900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67267-47FE-4419-AF98-09EC072E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03525"/>
            <a:ext cx="32766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[0, 0, 0, 0]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625B9D-BD67-46E5-9C99-88630042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36850"/>
            <a:ext cx="314325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4D3319-F618-4C21-922D-C29AE4AA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3525"/>
            <a:ext cx="29908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invalid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2D1CAB-EAC5-454C-B3BD-D82978C1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1050"/>
            <a:ext cx="142875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B343E1-A6A9-41F7-ABD9-DE33B799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7725"/>
            <a:ext cx="12763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83E741-85FF-4E54-B4E3-3AFC060D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21050"/>
            <a:ext cx="266700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4356EE-1D31-4F28-AE4E-1E436407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7725"/>
            <a:ext cx="25146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[1, 0, 0]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742E73-4A09-4028-9461-53C0FA47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21050"/>
            <a:ext cx="342900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44BF55-C2DD-454F-9F05-4FB0EA41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87725"/>
            <a:ext cx="32766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[0, 1, 0]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82F79B-64ED-41FF-AAA7-09C79287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21050"/>
            <a:ext cx="3143250" cy="58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936E23-652E-480D-8004-EC8DD3C0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87725"/>
            <a:ext cx="29908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valid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3B3E0A-1F5B-4769-8AC2-2FAC1766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1515"/>
                </a:solidFill>
              </a:defRPr>
            </a:pPr>
            <a:r>
              <a:rPr sz="1725" b="0">
                <a:solidFill>
                  <a:srgbClr val="151515"/>
                </a:solidFill>
              </a:rPr>
              <a:t>This is why post-hoc argmax is only a projection. It decodes something after the sampler has already visited invalid states.</a:t>
            </a:r>
          </a:p>
        </p:txBody>
      </p:sp>
    </p:spTree>
    <p:extLst>
      <p:ext uri="{BB962C8B-B14F-4D97-AF65-F5344CB8AC3E}">
        <p14:creationId xmlns:p14="http://schemas.microsoft.com/office/powerpoint/2010/main" val="14500759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0C99E6-6733-4DD8-B54B-78BF1640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CategoricalExample keeps validity by sampling integer class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E0F8D-CC41-499D-ABEA-0B9BAC62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93215-9D24-454C-BC3E-A3220209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619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2B079-688A-4044-8FE0-05457CE8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53149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CategoricalExample/samplers.py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# x is integer state: shape (batch_size, dim)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x_one_hot = torch.zeros((x.shape[0], self.dim, self.num_cls))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x_one_hot[:, range(self.dim), x[0, :]] =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cat_dist = torch.distributions.Categorical(logits=...)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x_delta = cat_dist.sample()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A02CA-940B-4E5C-A741-F9BE6D6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55899-B031-4A49-A97C-F38D2011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145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The persistent state is class indices, not flattened one-hot bits.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2CD8D-F67F-4CAF-BC06-0E09C0C4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078F6-3A56-44F3-BCB9-0D58D069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One-hot is built temporarily for model scoring.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BFF76-1A05-4BC3-8835-1AA6667D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FE1FB-CACB-4069-885F-3637D94C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The toy code assumes one shared num_cls and batch_size = 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A39D7-1480-4757-B9F3-F24361AC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92EBF-B7C6-48BE-8A41-D8413C48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It does not handle per-feature cardinalities without modification.</a:t>
            </a:r>
          </a:p>
        </p:txBody>
      </p:sp>
    </p:spTree>
    <p:extLst>
      <p:ext uri="{BB962C8B-B14F-4D97-AF65-F5344CB8AC3E}">
        <p14:creationId xmlns:p14="http://schemas.microsoft.com/office/powerpoint/2010/main" val="10453606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DFCD56-DB89-463E-B74C-1976DC18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15"/>
                </a:solidFill>
              </a:defRPr>
            </a:pPr>
            <a:r>
              <a:rPr sz="3900" b="1">
                <a:solidFill>
                  <a:srgbClr val="151515"/>
                </a:solidFill>
              </a:rPr>
              <a:t>Recommended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96DC3-38F6-4846-B51D-204375AE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90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02993-53F2-4B9B-BA37-E27E1922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A54"/>
                </a:solidFill>
              </a:defRPr>
            </a:pPr>
            <a:r>
              <a:rPr sz="1650" b="0">
                <a:solidFill>
                  <a:srgbClr val="5E5A54"/>
                </a:solidFill>
              </a:rPr>
              <a:t>Use the CategoricalExample idea, but add padding and masks for variable cardinalities.</a:t>
            </a:r>
          </a:p>
        </p:txBody>
      </p:sp>
    </p:spTree>
    <p:extLst>
      <p:ext uri="{BB962C8B-B14F-4D97-AF65-F5344CB8AC3E}">
        <p14:creationId xmlns:p14="http://schemas.microsoft.com/office/powerpoint/2010/main" val="18198102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F6225A-8ED0-4666-8FE9-AC279F9F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Use integer states plus padded one-hot model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19F73-E6FB-46A3-8EE7-5EE7F424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9C74C-4557-4DC3-94F3-37B521D4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B44C8-12F4-4E12-A157-6E254269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Object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28809-F901-40DA-B6E2-1CB69930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687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92BE9-A135-47FB-98E0-9C9362AA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430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F0D32-C1DC-43E2-83B3-18A5E4DB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66875"/>
            <a:ext cx="647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9A9B4-8F2C-4A71-89A5-2C796C63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43075"/>
            <a:ext cx="632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Meaning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2C202-2AFB-471B-B5B6-7C41E31F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20955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AE48F-51E9-4E0D-A3B3-E8F55C93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9431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x_int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01EB3-9959-45C3-9E44-5EFDCF65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9775"/>
            <a:ext cx="20955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4CC6D-86B6-4C9F-AE8D-110269DA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76450"/>
            <a:ext cx="19431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(B, D)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64994-7321-40F3-B4DA-6FF90CC8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9775"/>
            <a:ext cx="64770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02845-EA35-4AA1-9A4C-369C2A58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76450"/>
            <a:ext cx="63246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integer class per feature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6E550-C940-4948-A9BC-0924F78D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4595"/>
            <a:ext cx="20955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0F02A-313D-454D-B874-7EC05512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1270"/>
            <a:ext cx="19431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cardinalities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2091F-A6B3-43B3-B584-A427A50B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4595"/>
            <a:ext cx="20955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0BF49-931C-4CC2-AE2F-056890AA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41270"/>
            <a:ext cx="19431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(D,)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BD858-AB84-471F-ABB3-AAE4F6EC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4595"/>
            <a:ext cx="64770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D411B-AE00-4421-94EC-749C2AD0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41270"/>
            <a:ext cx="63246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valid class count per feature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AAE9D-974C-4B66-ACCF-9367BFA2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9415"/>
            <a:ext cx="20955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C97951-8EA3-4BB1-B1EB-9A5E52B1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6090"/>
            <a:ext cx="19431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max_cls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93B84-9A8A-47A9-A043-BE5ED320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39415"/>
            <a:ext cx="20955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A1222-BA8B-438A-88E4-65196AB0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6090"/>
            <a:ext cx="19431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scalar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6908D-159F-4DB2-A3C4-1BB7EE4C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9415"/>
            <a:ext cx="64770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D38E2-5A92-4667-9A04-B0BE662A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06090"/>
            <a:ext cx="63246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maximum cardinality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A0272B-A6A6-49E1-9390-748A939A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4235"/>
            <a:ext cx="20955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9AA4E7-42DD-43F0-9DBA-029037E9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0910"/>
            <a:ext cx="19431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valid_mask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1FF40D-E85D-47D0-9E77-942DAF99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4235"/>
            <a:ext cx="20955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7E8A50-6BA8-4A69-BD1B-6B98809C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70910"/>
            <a:ext cx="19431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(D, max_cls)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8E4DC7-1C2F-4AB5-BFE5-4E7744E6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04235"/>
            <a:ext cx="64770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C691B2-1DE3-4134-A210-6D4BC457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70910"/>
            <a:ext cx="63246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which padded classes are valid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0A7324-390E-48E8-AE60-F3EA46F9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9055"/>
            <a:ext cx="20955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BE113A-8DB7-4A5C-999D-7999C054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5730"/>
            <a:ext cx="19431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x_oh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741DC5-FD7B-465E-9457-897510E0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9055"/>
            <a:ext cx="20955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DA841C-985C-4A67-8919-DDAFB5FD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35730"/>
            <a:ext cx="19431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(B, D, max_cls)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31D31B-5CB4-4982-80F9-06A34246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9055"/>
            <a:ext cx="647700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268A22-CA0A-4011-800A-C1FE3C6B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35730"/>
            <a:ext cx="63246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padded one-hot input for model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9D6CBB-719C-4269-8411-C306B40A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704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623A23-1F96-49CF-A812-88D235BA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95850"/>
            <a:ext cx="6743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Example: cardinalities = [2, 4, 3]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max_cls = 4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x_int.shape = (2, 3)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x_oh.shape  = (2, 3, 4)</a:t>
            </a:r>
          </a:p>
        </p:txBody>
      </p:sp>
    </p:spTree>
    <p:extLst>
      <p:ext uri="{BB962C8B-B14F-4D97-AF65-F5344CB8AC3E}">
        <p14:creationId xmlns:p14="http://schemas.microsoft.com/office/powerpoint/2010/main" val="755352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4B06E4-87E6-4BBE-A389-3DD85F3B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Padding makes the tensor rectangular; the mask protects semantics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3B7E9-0DC5-4C51-A4A9-4CEF1372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15AF9-7BDD-415D-BE0D-D104E542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224BE-A478-4DEC-A268-34DAFEFF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90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Feature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F9BEA-FDE5-46A9-B180-5B8FA72D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145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981BF-2697-474D-86EE-48AE68BA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7907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Valid classes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71379-E1DB-4F81-ACC1-FE762C37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DBDB2-8411-447E-8375-8D26D30F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907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Padded one-hot width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74AE1-CF6C-4A27-9DBE-206BACDB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D3EB2-41D6-4E1D-89AE-A35B8250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79070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Mask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FA95A-C803-469F-BC96-899C7C10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57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C8124-D068-4CD8-B4F5-C2C850C5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2407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EA8B5-FBF4-4C0A-9FAF-82C95AC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F6185-B33D-4A82-B562-87B11B2F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124075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0, 1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4BBBF-48AB-4B01-9EE6-B18259EF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574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815DC-8C5A-4AB7-8897-76A42DD1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24075"/>
            <a:ext cx="3752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[0, 1, 0, 0]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ECDB3-7D06-4666-9F60-F86107E6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574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D0C25E-AB9D-4411-9DC4-C0D07E0A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24075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[1, 1, 0, 0]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A5637-6468-4FCA-95DA-4011ADF4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09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2D6E7B-F90D-482C-9DCA-E9372150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7652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377E7-F087-402B-98B6-793086C7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098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C9969-A7ED-4F7F-88AC-2DB4F097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676525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0, 1, 2, 3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EB9C0-1C5D-440C-A07F-0E2F124E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098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794947-F7D8-4C1B-A950-D5329CB9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76525"/>
            <a:ext cx="3752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[0, 0, 1, 0]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1DF134-B24E-4FF8-A2CB-1ABA20E5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098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45FE5D-7CDF-4FE7-BF99-DD68FF48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676525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[1, 1, 1, 1]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5F8CD1-4BA3-4443-AD7E-9B21BDE1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62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5C6D1D-06B1-4AF4-9618-E7EF1F10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2897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56FE35-C473-421D-AF9D-0211AEC2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623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31F070-D5A5-44E3-B881-7AE27CC9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228975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0, 1, 2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458FDF-D0B2-449D-B6E7-57EA1DA8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623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0AA899-BCFF-4174-A585-C2FAC2F4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28975"/>
            <a:ext cx="3752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[1, 0, 0, 0]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CD8E82-3CE4-4EEF-AB68-D0291C8B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623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FA2468-AD48-4A90-A718-949C51EA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28975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[1, 1, 1, 0]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D08305-6087-461A-9742-359E08A8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1515"/>
                </a:solidFill>
              </a:defRPr>
            </a:pPr>
            <a:r>
              <a:rPr sz="1725" b="0">
                <a:solidFill>
                  <a:srgbClr val="151515"/>
                </a:solidFill>
              </a:rPr>
              <a:t>The padded zeros are not real categories. They exist only so the tensor has a regular shape.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AA41E3-2871-42F6-B0FE-9BAF8A9E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95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3237E5-B0CC-41C4-986D-7C1E4362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29225"/>
            <a:ext cx="864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logits = logits.masked_fill(valid_mask[None, :, :] == 0, -1e9)</a:t>
            </a:r>
          </a:p>
        </p:txBody>
      </p:sp>
    </p:spTree>
    <p:extLst>
      <p:ext uri="{BB962C8B-B14F-4D97-AF65-F5344CB8AC3E}">
        <p14:creationId xmlns:p14="http://schemas.microsoft.com/office/powerpoint/2010/main" val="17376223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89E904-23E5-4F22-9A42-B8A3F853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15"/>
                </a:solidFill>
              </a:defRPr>
            </a:pPr>
            <a:r>
              <a:rPr sz="3900" b="1">
                <a:solidFill>
                  <a:srgbClr val="151515"/>
                </a:solidFill>
              </a:rPr>
              <a:t>Full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7F4D1-75BB-4C65-8108-923758C3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90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2E28F-461F-4D5E-8C64-CD480454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A54"/>
                </a:solidFill>
              </a:defRPr>
            </a:pPr>
            <a:r>
              <a:rPr sz="1650" b="0">
                <a:solidFill>
                  <a:srgbClr val="5E5A54"/>
                </a:solidFill>
              </a:rPr>
              <a:t>Trace the recommended masked categorical sampler from raw data to accepted sample.</a:t>
            </a:r>
          </a:p>
        </p:txBody>
      </p:sp>
    </p:spTree>
    <p:extLst>
      <p:ext uri="{BB962C8B-B14F-4D97-AF65-F5344CB8AC3E}">
        <p14:creationId xmlns:p14="http://schemas.microsoft.com/office/powerpoint/2010/main" val="15729878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271E71-60F7-4ACB-8165-A29AA2FA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1: raw categories become integer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71B9B-0F0E-47BD-91B1-DF8B0242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B793C-3B38-47F0-968D-04BA4B2A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85628-681F-405C-9531-6FA4E741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8859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Raw feature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6E7C2-08BD-49BF-84AD-67AF0143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397A9-C5D2-4889-8768-66639967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859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Raw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43B91-DE99-48BC-8E80-4E6F511A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EC661-62A2-4838-A550-26122D7B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859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Integer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DC013-8987-431B-8BD5-E75D4074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097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5502B-63AF-4EE1-894C-5520FF4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8859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Cardinality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FBF77-94C1-40D2-9C99-8BB23B8A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52650"/>
            <a:ext cx="23812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23C07-8058-4F0D-98FA-E8C287D6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21932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FC63C-E7A4-400B-A68F-0E271C74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52650"/>
            <a:ext cx="285750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EB253-39C3-4F4C-9CBD-FF366A32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19325"/>
            <a:ext cx="270510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blue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3B0B3-018A-433F-8BEA-8F043C4F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52650"/>
            <a:ext cx="23812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6F79D-A45D-4EF1-9395-7A409ABE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1932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57B6D-6841-4AB0-A3AB-9AAF6ACF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52650"/>
            <a:ext cx="23812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E0945-EB09-49A7-A061-AE830456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1932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B3126-1C43-484C-958C-E0BC1278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41600"/>
            <a:ext cx="23812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2D091D-E588-4413-8B46-917970AD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0827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9BEDEC-B1E6-47FB-AF99-9451E279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41600"/>
            <a:ext cx="285750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FC46C-8D20-4765-BB88-8858EB1F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08275"/>
            <a:ext cx="270510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medium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1C835-514F-4373-870F-E20CFC14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41600"/>
            <a:ext cx="23812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9A638-FA4A-4A24-9BF3-75073D6D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0827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87DA02-B809-4F27-B190-32C7031B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41600"/>
            <a:ext cx="23812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AABED3-3336-485F-8BF9-A6EBAF00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0827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1CB676-0941-4BDC-AF76-9B7DA584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30550"/>
            <a:ext cx="23812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943169-7AA2-47F0-9568-5C86E9BF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9722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CAAA5A-8538-4FB1-9A9B-5C688846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30550"/>
            <a:ext cx="285750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00AC60-A4E5-435F-9B32-E57D0D34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97225"/>
            <a:ext cx="270510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DA1D10-018F-4251-BAB1-1B3041D5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30550"/>
            <a:ext cx="23812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8FE9EE-36DB-4497-B759-A9DD7E5D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9722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1ED020-3E09-4973-ACE9-1528453D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30550"/>
            <a:ext cx="23812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C9FD30-3D37-46AD-B86C-C48FBF56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9722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</a:defRPr>
            </a:pPr>
            <a:r>
              <a:rPr sz="1200" b="0">
                <a:solidFill>
                  <a:srgbClr val="151515"/>
                </a:solidFill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F0ED53-8BB6-4046-A56C-24228401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D244A1-3358-40F4-A232-AD13C925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672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x_int = [[1, 2, 0],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     [0, 3, 1]]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x_int.shape = (batch_size=2, dim=3)</a:t>
            </a:r>
          </a:p>
        </p:txBody>
      </p:sp>
    </p:spTree>
    <p:extLst>
      <p:ext uri="{BB962C8B-B14F-4D97-AF65-F5344CB8AC3E}">
        <p14:creationId xmlns:p14="http://schemas.microsoft.com/office/powerpoint/2010/main" val="576600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70A70E-691E-409C-B7CF-D9BB02B2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2: integer state becomes padded one-hot for model scoring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7FE27-1D80-4BC4-9101-D5BFD0B0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F22B9-AA4E-4A0D-AFEC-29A0164D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143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73927-7110-497D-8CEC-B530984C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0225"/>
            <a:ext cx="48387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def to_padded_one_hot(x_int, cardinalities):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B, D = x_int.shape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K = max(cardinalities)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x_oh = zeros(B, D, K)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x_oh[batch, feature, x_int] = 1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return x_oh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CC36B-82A9-4314-8988-95964CD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57375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4B66E-1CE4-4412-9FF6-3037DF34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93357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Object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71C6D-8797-45FF-9F13-9A232D13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57375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C9A92-DB93-4F02-9225-9DB75476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9335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Shape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9D042-7F7A-45FE-97BB-5675937B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5737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AD853-FF23-4775-A16E-8E53DB42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335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9F263-A427-4BE5-955A-39734293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0275"/>
            <a:ext cx="133350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0617D-C9EA-4B26-894A-74886B6E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66950"/>
            <a:ext cx="118110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x_int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D0B82-76F8-4486-8043-CEDC050B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00275"/>
            <a:ext cx="123825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4B569-DB09-44A0-B385-5151F301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66950"/>
            <a:ext cx="108585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(2, 3)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D4D05-73D7-4410-B64D-8735C3CB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00275"/>
            <a:ext cx="219075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9632B-3B60-401D-86E1-B0286E1D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66950"/>
            <a:ext cx="203835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state used by sampler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A4650-ACFF-4466-B4A3-6DB73C4E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25725"/>
            <a:ext cx="133350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8C637-9A75-483F-97E1-CA37E240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692400"/>
            <a:ext cx="118110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x_oh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1E18C-DFFC-41E3-9B1C-8440A242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25725"/>
            <a:ext cx="123825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7B383-85AF-4798-96C3-741E0572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692400"/>
            <a:ext cx="108585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(2, 3, 4)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DC3D2-81CE-44A9-A0C3-A6B4C08D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25725"/>
            <a:ext cx="219075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DFB30-2B98-44F4-B705-C0B6A3CB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92400"/>
            <a:ext cx="203835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temporary model input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5B60F1-E519-4989-94BA-D3B2648E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51175"/>
            <a:ext cx="133350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FE2BA-6F73-42C2-A8CC-E514CCC9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17850"/>
            <a:ext cx="118110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model(x_oh)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301BBB-E059-47A0-89FA-E8BE0E76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51175"/>
            <a:ext cx="123825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1B235-1F58-4941-BC5A-090C8E6B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117850"/>
            <a:ext cx="108585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(2,)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90E78E-BFA9-41AB-AF6C-14E00C7B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51175"/>
            <a:ext cx="2190750" cy="42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A5F7D4-497F-4F3D-9F6E-72188196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17850"/>
            <a:ext cx="2038350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score per sample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B9E5EE-CEDD-4F39-BAC7-204C958C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This is the same design principle as CategoricalExample: keep the state categorical, use one-hot only when the model needs it.</a:t>
            </a:r>
          </a:p>
        </p:txBody>
      </p:sp>
    </p:spTree>
    <p:extLst>
      <p:ext uri="{BB962C8B-B14F-4D97-AF65-F5344CB8AC3E}">
        <p14:creationId xmlns:p14="http://schemas.microsoft.com/office/powerpoint/2010/main" val="10207251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975947-7324-4DC7-A2AB-2C1CF4CC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3: gradients are computed on the padded one-hot tensor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2748B-08D4-43A4-935E-F41D648D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8683B-2E89-47D4-B334-ED57758D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90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23B7F-C5A8-47CD-8525-FE587207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5600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x_oh = x_oh.requires_grad_()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gx = torch.autograd.grad(model(x_oh).sum(), x_oh)[0]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gx_cur = (gx * x_oh).sum(-1)[:, :, None]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forward_delta = gx - gx_cur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2864D-098E-42D3-B78B-1C6ECC8C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1285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6577E-3A7F-4326-970A-9B3911E3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90700"/>
            <a:ext cx="1133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Object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F2054-6287-4704-A0AF-E007A3EB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1000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188B4-FD56-4728-B6B3-1AE523B7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790700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Shape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8A285-AE07-45F4-BBF3-5F72BE04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145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C4D34-85A3-47D0-AF0E-FEB3DE00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90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82993-58A3-46BE-962F-1D5D5680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1285875" cy="44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49643-DD52-4457-9E45-DE7F1825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24075"/>
            <a:ext cx="11334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gx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D489E-5B68-4243-ACBA-9BB03FDD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57400"/>
            <a:ext cx="1000125" cy="44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7AB05-8A4A-43C6-8837-6E5CBFA9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124075"/>
            <a:ext cx="84772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(2, 3, 4)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D6F5B-E642-442C-9003-5BBA66A6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57400"/>
            <a:ext cx="1809750" cy="44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B954F-E399-47B9-BB62-665FDD0B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24075"/>
            <a:ext cx="165735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gradient for every padded class slot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B9EF5-F856-4D7A-B885-D562A6A4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98725"/>
            <a:ext cx="1285875" cy="44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C7C8C-4BD3-4B68-AAA5-C6D44FD9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65400"/>
            <a:ext cx="11334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gx_cur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126AC-4356-48D2-8EAE-929192AC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98725"/>
            <a:ext cx="1000125" cy="44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0F73B-A0AB-47ED-90E9-10E32232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65400"/>
            <a:ext cx="84772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(2, 3, 1)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FE16C-67A6-4643-96C8-9AE7BAEB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8725"/>
            <a:ext cx="1809750" cy="44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84834-C8C0-40CF-8063-B2897934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65400"/>
            <a:ext cx="165735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gradient of active class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BE94D2-2AEA-4E00-A026-24C81807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40050"/>
            <a:ext cx="1285875" cy="44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47B678-0B67-4820-80E4-CFF2DB1C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6725"/>
            <a:ext cx="113347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forward_delta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BB8AF-F717-40CE-9046-7049334C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40050"/>
            <a:ext cx="1000125" cy="44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3BCB8F-6835-4391-BAAE-21BEC0CA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06725"/>
            <a:ext cx="84772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(2, 3, 4)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98FF3B-CC8C-4E1C-B904-0E3F368D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40050"/>
            <a:ext cx="1809750" cy="44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9D3D79-3513-4450-A11D-35CFA627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6725"/>
            <a:ext cx="165735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51515"/>
                </a:solidFill>
              </a:defRPr>
            </a:pPr>
            <a:r>
              <a:rPr sz="900" b="0">
                <a:solidFill>
                  <a:srgbClr val="151515"/>
                </a:solidFill>
              </a:rPr>
              <a:t>class preference relative to active class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5FA5BA-CCB4-43EE-9578-C08089E5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1515"/>
                </a:solidFill>
              </a:defRPr>
            </a:pPr>
            <a:r>
              <a:rPr sz="1725" b="0">
                <a:solidFill>
                  <a:srgbClr val="151515"/>
                </a:solidFill>
              </a:rPr>
              <a:t>For invalid padded classes, forward_delta may exist numerically, but it must not be sampled.</a:t>
            </a:r>
          </a:p>
        </p:txBody>
      </p:sp>
    </p:spTree>
    <p:extLst>
      <p:ext uri="{BB962C8B-B14F-4D97-AF65-F5344CB8AC3E}">
        <p14:creationId xmlns:p14="http://schemas.microsoft.com/office/powerpoint/2010/main" val="9548136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F25DBC-3ACF-438F-B4CD-0BC7B286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4: invalid classes are removed before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09B3B-9FD6-41F6-B41E-6FDA73A6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FF905-BBFE-406A-8B4F-A9009D26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4F1A9-1BFB-4C2B-9BCB-D9A1F150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5600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forward_logits = forward_delta - current_class_penalty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forward_logits = forward_logits.masked_fill(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valid_mask[None, :, :] == 0,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-1e9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63B92-F522-4541-9C8E-562C03C9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482EF-7744-497F-8C0F-24B0465F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Feature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EB0CF-44C3-4F80-8D40-CC4580A3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438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48BD3-770A-419D-B66A-384F755A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909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Before mask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BE64B-2379-4803-874B-11EE691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E98D0-A240-48A1-B0EC-1F3A0366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909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After mask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28F06-B85B-419D-883E-ACAD1189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14287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C772C-6E43-4582-916D-FC96A562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24325"/>
            <a:ext cx="12763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4E3DD-37F2-40A1-BAAC-D71AAF66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57650"/>
            <a:ext cx="438150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F0CC1-7360-4E9E-B7B4-ACD3F533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24325"/>
            <a:ext cx="422910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[0.4, 0.0, 1.2, -0.3]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EA650-3145-4F6D-A44E-09E34210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48577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EEFE8-2B72-4520-85C8-C62C3C8A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24325"/>
            <a:ext cx="47053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[0.4, 0.0, -inf, -inf]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BFCD7-53D6-48EB-AFBE-EC58028F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6600"/>
            <a:ext cx="14287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DE450-6456-4D5B-B82F-F5F72CFB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3275"/>
            <a:ext cx="12763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00B12-154B-4884-8D09-D28499C0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6600"/>
            <a:ext cx="438150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EB26D-4382-4E01-B820-D3A048DE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13275"/>
            <a:ext cx="422910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[-0.2, 0.5, 0.0, 0.1]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5A8A0-3AD2-4B71-8ED1-06FC49AF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46600"/>
            <a:ext cx="48577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060229-8BDE-44C2-881C-0E4A22E9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3275"/>
            <a:ext cx="47053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[-0.2, 0.5, 0.0, 0.1]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7977C-7E65-4F8D-8C2C-7190F944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5550"/>
            <a:ext cx="14287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FDEA4-C63E-4D80-95A4-E417D58B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2225"/>
            <a:ext cx="12763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769972-8B2C-4DB1-A9CA-35043588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35550"/>
            <a:ext cx="438150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9EFD79-2F9F-4A5F-BF87-08271293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02225"/>
            <a:ext cx="422910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[0.0, 0.8, -0.1, 2.0]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96C2C8-A73E-436A-8EC2-DF7467A0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35550"/>
            <a:ext cx="4857750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382032-0734-4B23-AB9B-2260A521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02225"/>
            <a:ext cx="47053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[0.0, 0.8, -0.1, -inf]</a:t>
            </a:r>
          </a:p>
        </p:txBody>
      </p:sp>
    </p:spTree>
    <p:extLst>
      <p:ext uri="{BB962C8B-B14F-4D97-AF65-F5344CB8AC3E}">
        <p14:creationId xmlns:p14="http://schemas.microsoft.com/office/powerpoint/2010/main" val="17398041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575BF3-2FED-4632-AA47-AAF5A741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5: sample a valid categorical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C079C-2C23-41F5-B1DD-8400FE88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4D034-2C93-4C5F-84FD-F3F35571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43867-F2F0-437E-995B-26E6040C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979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One implementation can flatten all valid feature/class positions and sample one replacement.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E7391-3FCF-485B-B6FE-8B3E2F5C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1BA91-C43F-4C2A-81B4-FA2CCCE5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979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Another implementation can sample a new class for each feature, as in the toy CategoricalExample.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21468-450D-4B1F-BC48-9CF5F2D2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8024F-24F0-4B12-9B1C-EB7E5C7F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67025"/>
            <a:ext cx="979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Either way, the mask must be applied before the Categorical distribution is created.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60B83-2267-49D9-8C39-0AB200CE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33875"/>
            <a:ext cx="8191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6C3F1-9E08-416E-BF12-BC35B4D6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67225"/>
            <a:ext cx="78867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dist = torch.distributions.Categorical(logits=masked_logits)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x_delta_int = dist.sample()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# every sampled class is valid because invalid logits are -inf</a:t>
            </a:r>
          </a:p>
        </p:txBody>
      </p:sp>
    </p:spTree>
    <p:extLst>
      <p:ext uri="{BB962C8B-B14F-4D97-AF65-F5344CB8AC3E}">
        <p14:creationId xmlns:p14="http://schemas.microsoft.com/office/powerpoint/2010/main" val="18219925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BE1730-8991-4A54-B6EA-B2F52058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6: build x_delta and score the proposed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9ABAF-7D5F-4C03-8069-01FD3763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FA647-DD2D-43BD-ADA1-20B72382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640B4-A12B-4B90-8A25-DDD40CA7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907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Object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19531-2443-4043-863B-D4AEF7B0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14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6E5DF-6D5B-4E50-BAFC-4BD585CB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790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ABB1F-D04C-44E6-BFA3-6A7E66A0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145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F51B8-2C2E-48CD-B98A-B7A76B31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790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Example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81C14-7BE6-41DA-A69F-C7F51025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D53FE-FB52-4ABA-98D6-2A3247EE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9070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E76EA-63C6-4FA6-A41D-F0D08093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57400"/>
            <a:ext cx="171450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FDAC6-4A55-45A9-8241-98CF61A6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24075"/>
            <a:ext cx="15621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x_int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EF18D-D917-43EF-9255-9CAF73A0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57400"/>
            <a:ext cx="161925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BEBC0-8273-4564-987F-D9FFBFE1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24075"/>
            <a:ext cx="14668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(2, 3)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13E7D-C7AB-43EC-8B83-8950E6C4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57400"/>
            <a:ext cx="285750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A48FD-D419-4F1A-B799-A2E44032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124075"/>
            <a:ext cx="27051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[1, 2, 0]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7D3E5-3EDD-47A2-B25D-6964CE1A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57400"/>
            <a:ext cx="495300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20419-C83E-4FD8-9EF8-83A632D6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24075"/>
            <a:ext cx="48006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current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1EEE6-6167-4B41-95CF-D3091B72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66988"/>
            <a:ext cx="171450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9F46B-C753-43F9-8140-3A502F61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33663"/>
            <a:ext cx="15621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x_delta_int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60F03D-3FA2-468F-9F24-267DA0E0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66988"/>
            <a:ext cx="161925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F4EAA-C1AD-48D0-AD16-C3B6E178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633663"/>
            <a:ext cx="14668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(2, 3)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1E398-7636-4B5F-8556-7A91FB1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66988"/>
            <a:ext cx="285750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570609-48C4-4E55-BC14-16B9411E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33663"/>
            <a:ext cx="27051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[1, 0, 0]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CFA4DF-4DF4-46AB-B658-B40B3D01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66988"/>
            <a:ext cx="495300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3675DF-9129-4029-AA8C-F3367059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33663"/>
            <a:ext cx="48006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proposed state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00E375-51A7-4667-A44B-1EBF8AB4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76575"/>
            <a:ext cx="171450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E3036C-D050-4D20-A24E-D7BED4C2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43250"/>
            <a:ext cx="15621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x_delta_oh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2A6DCC-C185-485B-9DAB-DE903103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76575"/>
            <a:ext cx="161925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62251D-E2AC-44CB-9290-4017DEC5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143250"/>
            <a:ext cx="14668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(2, 3, 4)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B5D1E4-4BF9-4225-8A18-706D0EF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76575"/>
            <a:ext cx="285750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706B2B-140F-40D4-B974-CAC947DA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43250"/>
            <a:ext cx="27051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padded one-hot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4BD8A0-1A56-4C1C-B80D-F8BB3C15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76575"/>
            <a:ext cx="495300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8AD37F-18EE-496F-BDD5-D2CB7FDD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43250"/>
            <a:ext cx="48006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model input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AC3C31-5A4E-4BB7-A5B3-ADD15BFF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86163"/>
            <a:ext cx="171450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C9E991-649E-4DAA-9385-0D13792D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52838"/>
            <a:ext cx="15621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model(x_delta_oh)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6355B8-68ED-42F6-89FB-FCAB5DFB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86163"/>
            <a:ext cx="161925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17438C-E6D4-435B-AAE1-ECD6E9E9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652838"/>
            <a:ext cx="146685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(2,)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5E8832-98F4-4F1F-8DE1-0ED5CE80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86163"/>
            <a:ext cx="285750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257177-277D-4B16-A1F5-91339F8D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52838"/>
            <a:ext cx="27051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score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D28EB8-815A-4CD6-B752-22BB29D8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86163"/>
            <a:ext cx="4953000" cy="509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1F46F0-2172-4CF5-807D-B20D0550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652838"/>
            <a:ext cx="48006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target value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9895AE-EF73-4D87-B1A0-670D3979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1019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The proposed state is still categorical. There is no invalid block like [1, 1, 0, 0] because x_delta_int stores one class per feature.</a:t>
            </a:r>
          </a:p>
        </p:txBody>
      </p:sp>
    </p:spTree>
    <p:extLst>
      <p:ext uri="{BB962C8B-B14F-4D97-AF65-F5344CB8AC3E}">
        <p14:creationId xmlns:p14="http://schemas.microsoft.com/office/powerpoint/2010/main" val="16334477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D34E5F-817D-42B7-BF10-39A9B5E2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7: compute reverse probability for MH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AA7BE-1057-469E-B789-956C7AE2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6AD4E-6ED6-4835-B27C-E720D3CA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810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ED878-B31B-40C3-B361-8C5EC3F3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022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reverse_delta = diff_fn(x_delta_oh, model)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reverse_logits = reverse_delta - current_class_penalty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reverse_logits = reverse_logits.masked_fill(invalid_mask, -1e9)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lp_reverse = reverse_dist.log_prob(reverse_move)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3E22B-5730-4C59-8E13-C1AD1E81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57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6E3A8-ADAD-4808-B98A-CAADD2C6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62125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The reverse distribution asks: from the proposed state, how likely is it to return to the old state?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6721B-D628-4A5E-82A7-B25D0F3C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9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C4185-BF2F-4377-A210-DB7F7A47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14575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The same validity mask must be used in the reverse direction.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70B8B-86D6-4ACA-B03B-963918E0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62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8540B-0B98-4360-923E-8A575FEE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67025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This is the categorical analogue of the MH correction in DMALA.</a:t>
            </a:r>
          </a:p>
        </p:txBody>
      </p:sp>
    </p:spTree>
    <p:extLst>
      <p:ext uri="{BB962C8B-B14F-4D97-AF65-F5344CB8AC3E}">
        <p14:creationId xmlns:p14="http://schemas.microsoft.com/office/powerpoint/2010/main" val="10611563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404C14-78A7-4246-8E78-F9D4702B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8: accept or reject the categorical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E9FA7-BC8B-4939-804A-392BDBB2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1DB7A-B5D1-488F-973A-C9E9E5E4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038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07DB8-ABB6-4E33-AB6F-7D1F5257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943100"/>
            <a:ext cx="10077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m_term = model(x_delta_oh) - model(x_cur_oh)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la = m_term + lp_reverse - lp_forward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a = (la.exp() &gt; torch.rand_like(la)).float()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x_next = where(a, x_delta_int, x_int)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52CE8-0FC6-435F-91BF-2E2CAC0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00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0537F-30D9-4D54-90E4-2A627AF2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862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Object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D92AE-052C-4EAD-8687-1D7E0A98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C01D6-7601-426B-BE2B-62980706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862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Shape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F20A2-07FF-488A-98CF-990DE36A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1000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FE183-8FD5-401C-B009-1F97B7C5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8620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92804-C539-45AB-8A11-2AD189B4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17145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A21DC-1714-453A-BB3F-D46C0FFD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19575"/>
            <a:ext cx="15621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m_term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22EF5-185C-4983-ADB2-ACA03EB7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52900"/>
            <a:ext cx="17145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FE481-5443-4DF6-B93B-7BC50BD4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19575"/>
            <a:ext cx="15621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(B,)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DBAC0-4B0B-4E1B-9370-7E064BAE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52900"/>
            <a:ext cx="53340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0D8A9-D05B-423C-B18B-1CED865C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19575"/>
            <a:ext cx="51816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model score 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99E7F-8A7A-4FEE-B63D-1130F00D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46270"/>
            <a:ext cx="17145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94F25-D758-4F1D-9159-A053DBD9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12945"/>
            <a:ext cx="15621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lp_forward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7478C-4778-47E0-BD32-42C4D80B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6270"/>
            <a:ext cx="17145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AF440-EA35-498F-A132-FFA384AD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12945"/>
            <a:ext cx="15621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(B,)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1323F-796D-4659-BD01-635E7A4A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46270"/>
            <a:ext cx="53340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C3196-8399-41AA-9088-369E8A4A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12945"/>
            <a:ext cx="51816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probability of proposed move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90B1E-E21F-490B-B8E8-D149537F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39640"/>
            <a:ext cx="17145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EBB39E-FF65-495F-A250-E443F661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06315"/>
            <a:ext cx="15621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lp_reverse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C1CBAC-7A1E-4DCE-9914-08ABFE0E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39640"/>
            <a:ext cx="17145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FD61F-C912-4057-AA52-E77EF5B1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06315"/>
            <a:ext cx="15621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(B,)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D95F6-B7D7-46A7-8BCF-4DA8870C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39640"/>
            <a:ext cx="53340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4100E0-C727-4A84-9A14-0F7CD9CC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6315"/>
            <a:ext cx="51816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probability of undoing move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CF5647-567E-4556-B208-A060F547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33010"/>
            <a:ext cx="17145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2F082E-E75E-4560-855D-25778383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99685"/>
            <a:ext cx="15621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65CC23-5EF4-4B7C-B129-70D6EAEB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33010"/>
            <a:ext cx="17145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687FAE-825D-4F82-9582-7D2ADE87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99685"/>
            <a:ext cx="15621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(B,)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BF9FC8-EEAC-4753-9361-2D295EEB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33010"/>
            <a:ext cx="53340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1718F0-3B66-409F-A2BF-6E6747A9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9685"/>
            <a:ext cx="51816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accept or reject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E11D2E-0B37-4980-BFE0-BB13BB1E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26380"/>
            <a:ext cx="17145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FCBB62-6AB2-4D83-AD21-33C9A9D7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93055"/>
            <a:ext cx="15621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x_next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249F8F-7444-48BB-BBD2-F526AC3E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26380"/>
            <a:ext cx="17145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3678E4-753A-44F9-8327-DCE6DA93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93055"/>
            <a:ext cx="15621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(B, D)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A3D9BD-873D-4D69-AAB7-4597588A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26380"/>
            <a:ext cx="53340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CFD20F-A075-48F9-B742-8F08E020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93055"/>
            <a:ext cx="51816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next valid categorical state</a:t>
            </a:r>
          </a:p>
        </p:txBody>
      </p:sp>
    </p:spTree>
    <p:extLst>
      <p:ext uri="{BB962C8B-B14F-4D97-AF65-F5344CB8AC3E}">
        <p14:creationId xmlns:p14="http://schemas.microsoft.com/office/powerpoint/2010/main" val="15795212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0BDC6B-B310-40A1-A1D5-E62B3BE1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Step 9: decoding is direct because the state is already categorical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D2295-B9C5-4BA0-BD74-29D91EF8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44530-A136-4955-9DA4-2EF4D1EB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4EF15-BCE5-4BCE-8648-51B2ACCE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383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05D23-1A67-4919-B7A7-B230E107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62125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7CC12-0600-45D1-84FB-29C7EC91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838325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Representation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2A530-1163-4A0B-A321-5E4FE2F9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62125"/>
            <a:ext cx="514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92B56-4FC1-404B-A6CE-8EDA562D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38325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Decode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90CDF-D076-4E30-B235-5580227D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2095500" cy="61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9071F-5AA7-47A8-96E4-71E43536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19431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x_next_int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810C7-713F-49C3-B830-DD66666E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05025"/>
            <a:ext cx="3714750" cy="61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E2034-5641-432B-8C21-40E8E7B7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71700"/>
            <a:ext cx="356235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[1, 0, 0]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2A570-5070-4F7F-BD13-C3A896F2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05025"/>
            <a:ext cx="5143500" cy="61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E3299-4E02-4272-B0B4-B1DBDFAE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71700"/>
            <a:ext cx="49911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A=class1, B=class0, C=class0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5838D-1B94-45BC-B2B3-B7B3D96F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0975"/>
            <a:ext cx="2095500" cy="61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E5E6F-28FA-49FC-A85C-61EB1D67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87650"/>
            <a:ext cx="19431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x_next_oh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D1494-9CB7-4708-90AB-C7CF87CE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20975"/>
            <a:ext cx="3714750" cy="61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55844-60E9-4B02-964B-C65D8C72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87650"/>
            <a:ext cx="356235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padded one-hot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6037E-950C-4138-9095-0B424D2B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0975"/>
            <a:ext cx="5143500" cy="61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F340F3-3DC6-42C0-B731-81B61BDD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87650"/>
            <a:ext cx="49911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argmax is safe because one-hot was built from x_next_int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63698-51C9-4B8F-BD90-1F782604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6925"/>
            <a:ext cx="2095500" cy="61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1DC3FE-789B-435F-A68D-2F68FBC6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03600"/>
            <a:ext cx="19431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flat DMALA sample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9E2C2-1815-421C-8D6C-736B6475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36925"/>
            <a:ext cx="3714750" cy="61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37998-650C-447C-931D-5EA43239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403600"/>
            <a:ext cx="356235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independent bits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25C603-C41C-44C1-95BB-73D9C3C4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36925"/>
            <a:ext cx="5143500" cy="61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517FAA-D473-43E0-94E3-F0F0056A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03600"/>
            <a:ext cx="499110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1515"/>
                </a:solidFill>
              </a:defRPr>
            </a:pPr>
            <a:r>
              <a:rPr sz="1125" b="0">
                <a:solidFill>
                  <a:srgbClr val="151515"/>
                </a:solidFill>
              </a:rPr>
              <a:t>argmax is only post-hoc projection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5F148B-0B25-4ACD-A234-EBAB42A2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1515"/>
                </a:solidFill>
              </a:defRPr>
            </a:pPr>
            <a:r>
              <a:rPr sz="1725" b="0">
                <a:solidFill>
                  <a:srgbClr val="151515"/>
                </a:solidFill>
              </a:rPr>
              <a:t>The recommended sampler does not need to repair samples after generation. Validity is maintained during the transition itself.</a:t>
            </a:r>
          </a:p>
        </p:txBody>
      </p:sp>
    </p:spTree>
    <p:extLst>
      <p:ext uri="{BB962C8B-B14F-4D97-AF65-F5344CB8AC3E}">
        <p14:creationId xmlns:p14="http://schemas.microsoft.com/office/powerpoint/2010/main" val="341254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5A83B7-F419-418B-A9C2-98756184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What changes relative to the current repo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B2490-185C-462B-A6A6-766950F6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925A0-8DA6-4572-A85D-18EECF0E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BEBC5-2892-496F-90A5-07826D45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7430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Component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F78FE-907A-4C00-9BCF-124899CF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66875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16E23-C195-43F5-B37D-E174B069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743075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Current repo behavior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5C5E6-8E51-46EA-B0D6-982A7760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66875"/>
            <a:ext cx="504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1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93B4A-1C9B-4A2B-AA5F-C43F3F63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43075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1515"/>
                </a:solidFill>
              </a:defRPr>
            </a:pPr>
            <a:r>
              <a:rPr sz="1050" b="1">
                <a:solidFill>
                  <a:srgbClr val="151515"/>
                </a:solidFill>
              </a:rPr>
              <a:t>Required modification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C70F9-4686-4C5E-9258-E90B7B1C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09775"/>
            <a:ext cx="18097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C0332-D08C-4841-A8D6-1C881909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076450"/>
            <a:ext cx="16573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C4CF4-E48D-4DF7-967D-58D5800D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09775"/>
            <a:ext cx="44767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6CB07-1D77-40A8-B401-36FC90F5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076450"/>
            <a:ext cx="43243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flat binary or fixed num_cls tensor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A3AFC-D6FB-453C-BC1B-489DB06F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9775"/>
            <a:ext cx="5048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33436-6570-47F1-8C0C-E3BE6AAA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076450"/>
            <a:ext cx="4895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integer categorical state x_int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3162B-3E82-40B1-97C0-99FAA2DE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12695"/>
            <a:ext cx="18097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9260D-A928-4A1E-B562-60FAD847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579370"/>
            <a:ext cx="16573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Cardinality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A7EDC-50B6-44AF-B172-EB50DE26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12695"/>
            <a:ext cx="44767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5EDBD-03C4-4731-987B-7539E713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579370"/>
            <a:ext cx="43243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single n_out / num_cls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B539B-57E5-42AD-9079-ED66876B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12695"/>
            <a:ext cx="5048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1CC59-1059-4859-B13A-287AD5F2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79370"/>
            <a:ext cx="4895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cardinalities list and max_cls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86363-217D-465D-91AA-6486F3F2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15615"/>
            <a:ext cx="18097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3EADB8-D7C3-4695-BE36-E5EB8B44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082290"/>
            <a:ext cx="16573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One-hot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8EF61-32C0-4AAB-A998-A4C3436E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15615"/>
            <a:ext cx="44767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DF9E5-EE6C-4B3A-A204-AAD88833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082290"/>
            <a:ext cx="43243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input or fixed tensor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1F21C-1CA3-4035-B88D-379760EA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15615"/>
            <a:ext cx="5048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E174ED-95A9-4C93-BD5C-FE18F941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082290"/>
            <a:ext cx="4895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temporary padded tensor for scoring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9205D-3D14-42DC-8709-657C092D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18535"/>
            <a:ext cx="18097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71F149-D089-4FB8-BE8C-8B015EB6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585210"/>
            <a:ext cx="16573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Sampler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C91E7C-E52E-4D96-A984-8508B4E3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18535"/>
            <a:ext cx="44767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C8E9FC-625F-4F69-A646-A6664D3F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85210"/>
            <a:ext cx="43243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bit flips or fixed-class categorical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DD6ACC-F072-4CA6-B64E-6479B43F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18535"/>
            <a:ext cx="5048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0CA53F-7233-4ECD-BE86-7F37F2C8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585210"/>
            <a:ext cx="4895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masked categorical proposal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81EED8-B533-4B18-BD36-418186AB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21455"/>
            <a:ext cx="18097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723FBD-7C77-4D42-8C7E-43FE22C7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88130"/>
            <a:ext cx="16573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Decoding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8E0733-3D26-40DE-B83A-9DE92077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21455"/>
            <a:ext cx="44767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7A6990-D30F-4418-9FDB-481A027B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088130"/>
            <a:ext cx="43243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not implemented for generated flat one-hot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E9B8C4-E12E-41A5-B2B3-EA66BE01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21455"/>
            <a:ext cx="504825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AF7F1D-5382-4D81-8E64-7B2497B9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88130"/>
            <a:ext cx="48958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direct from x_int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A5DFF9-27C1-4E83-B01D-61F38E23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This is not just a cosmetic change. It moves the Markov chain from the larger binary space onto the valid categorical state space.</a:t>
            </a:r>
          </a:p>
        </p:txBody>
      </p:sp>
    </p:spTree>
    <p:extLst>
      <p:ext uri="{BB962C8B-B14F-4D97-AF65-F5344CB8AC3E}">
        <p14:creationId xmlns:p14="http://schemas.microsoft.com/office/powerpoint/2010/main" val="20663759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975D8D-807B-489C-B6AF-1DAC56FA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51515"/>
                </a:solidFill>
              </a:defRPr>
            </a:pPr>
            <a:r>
              <a:rPr sz="2625" b="1">
                <a:solidFill>
                  <a:srgbClr val="151515"/>
                </a:solidFill>
              </a:rPr>
              <a:t>Supervisor-ready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1471B-C858-420C-9687-3F3FB0E5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8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C4819-1E4E-4472-94A3-19FB44E6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87BF3-B5DA-462C-8A14-25F41D21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809750"/>
            <a:ext cx="969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Flattened one-hot plus DMALA is compatible with tensor shapes, but it does not preserve categorical validity.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B0E0D-8992-4D84-91AD-ABB166F0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57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818AF-80C0-41E2-8D25-7F22C81D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62200"/>
            <a:ext cx="969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Post-hoc argmax is a repair step, not a sampler guarantee.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725E2-AE59-4BAF-96A0-D30837DC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9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E72CE-5970-4F54-AC58-522540DC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14650"/>
            <a:ext cx="969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The CategoricalExample shows the better principle: sample class indices, then one-hot encode for model scoring.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1F7EF-AE32-46A3-A4E6-18740633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92F04-8116-4640-8EBF-928E88AA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467100"/>
            <a:ext cx="969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For different cardinalities, padding must be paired with a validity mask in both forward and reverse proposals.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B627E-DA92-426E-A711-FE335E24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14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34"/>
          </a:solidFill>
          <a:ln xmlns:a="http://schemas.openxmlformats.org/drawingml/2006/main" w="9525">
            <a:solidFill>
              <a:srgbClr val="C95C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879CD-7F2C-427C-B6A5-ABC512EF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19550"/>
            <a:ext cx="969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</a:defRPr>
            </a:pPr>
            <a:r>
              <a:rPr sz="1575" b="0">
                <a:solidFill>
                  <a:srgbClr val="151515"/>
                </a:solidFill>
              </a:rPr>
              <a:t>The generated output is safely decodable only if validity is maintained during sampling.</a:t>
            </a:r>
          </a:p>
        </p:txBody>
      </p:sp>
    </p:spTree>
    <p:extLst>
      <p:ext uri="{BB962C8B-B14F-4D97-AF65-F5344CB8AC3E}">
        <p14:creationId xmlns:p14="http://schemas.microsoft.com/office/powerpoint/2010/main" val="1202512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2026-07-15T02:15:33.0040000Z</dcterms:created>
  <dcterms:modified xsi:type="dcterms:W3CDTF">2026-07-15T02:15:33.0040000Z</dcterms:modified>
</coreProperties>
</file>