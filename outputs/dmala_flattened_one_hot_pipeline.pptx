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d716e3f3f34fbe" /><Relationship Type="http://schemas.openxmlformats.org/officeDocument/2006/relationships/extended-properties" Target="/docProps/app.xml" Id="R9eeb99c5661546cc" /><Relationship Type="http://schemas.openxmlformats.org/officeDocument/2006/relationships/officeDocument" Target="/ppt/presentation.xml" Id="Ra19acd2ebfc84e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0accde16bb4ff5"/>
  </p:sldMasterIdLst>
  <p:notesMasterIdLst>
    <p:notesMasterId xmlns:r="http://schemas.openxmlformats.org/officeDocument/2006/relationships" r:id="Rfcaed53b3c4f407d"/>
  </p:notesMasterIdLst>
  <p:sldIdLst>
    <p:sldId xmlns:r="http://schemas.openxmlformats.org/officeDocument/2006/relationships" id="256" r:id="R37823157fa284b5c"/>
    <p:sldId xmlns:r="http://schemas.openxmlformats.org/officeDocument/2006/relationships" id="257" r:id="Rffff0c84191842f4"/>
    <p:sldId xmlns:r="http://schemas.openxmlformats.org/officeDocument/2006/relationships" id="258" r:id="R2f266998a7c04e5a"/>
    <p:sldId xmlns:r="http://schemas.openxmlformats.org/officeDocument/2006/relationships" id="259" r:id="R8c5919cf66744403"/>
    <p:sldId xmlns:r="http://schemas.openxmlformats.org/officeDocument/2006/relationships" id="260" r:id="R627a19969d9449e6"/>
    <p:sldId xmlns:r="http://schemas.openxmlformats.org/officeDocument/2006/relationships" id="261" r:id="Re74ce71013fd49c6"/>
    <p:sldId xmlns:r="http://schemas.openxmlformats.org/officeDocument/2006/relationships" id="262" r:id="R3e08f167da4c4c57"/>
    <p:sldId xmlns:r="http://schemas.openxmlformats.org/officeDocument/2006/relationships" id="263" r:id="R31a5f6b8ddfd4d55"/>
    <p:sldId xmlns:r="http://schemas.openxmlformats.org/officeDocument/2006/relationships" id="264" r:id="R173a327f3db64723"/>
    <p:sldId xmlns:r="http://schemas.openxmlformats.org/officeDocument/2006/relationships" id="265" r:id="R689df17cf7554821"/>
    <p:sldId xmlns:r="http://schemas.openxmlformats.org/officeDocument/2006/relationships" id="266" r:id="R6fccac4c0ac2460d"/>
    <p:sldId xmlns:r="http://schemas.openxmlformats.org/officeDocument/2006/relationships" id="267" r:id="Rc93de0f867064be4"/>
    <p:sldId xmlns:r="http://schemas.openxmlformats.org/officeDocument/2006/relationships" id="268" r:id="Ra55f05523d914a25"/>
    <p:sldId xmlns:r="http://schemas.openxmlformats.org/officeDocument/2006/relationships" id="269" r:id="R66efce0e9e8d4500"/>
    <p:sldId xmlns:r="http://schemas.openxmlformats.org/officeDocument/2006/relationships" id="270" r:id="Re5067ca9527d45e4"/>
    <p:sldId xmlns:r="http://schemas.openxmlformats.org/officeDocument/2006/relationships" id="271" r:id="Ra8ce38bf2c084d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dd49cd0de5497b" /><Relationship Type="http://schemas.openxmlformats.org/officeDocument/2006/relationships/slideMaster" Target="/ppt/slideMasters/slideMaster1.xml" Id="R0c0accde16bb4ff5" /><Relationship Type="http://schemas.openxmlformats.org/officeDocument/2006/relationships/notesMaster" Target="/ppt/notesMasters/notesMaster1.xml" Id="Rfcaed53b3c4f407d" /><Relationship Type="http://schemas.openxmlformats.org/officeDocument/2006/relationships/presProps" Target="/ppt/presProps.xml" Id="R198308f4d1fd414e" /><Relationship Type="http://schemas.openxmlformats.org/officeDocument/2006/relationships/tableStyles" Target="/ppt/tableStyles.xml" Id="Rb4429af714984843" /><Relationship Type="http://schemas.openxmlformats.org/officeDocument/2006/relationships/slide" Target="/ppt/slides/slide1.xml" Id="R37823157fa284b5c" /><Relationship Type="http://schemas.openxmlformats.org/officeDocument/2006/relationships/slide" Target="/ppt/slides/slide2.xml" Id="Rffff0c84191842f4" /><Relationship Type="http://schemas.openxmlformats.org/officeDocument/2006/relationships/slide" Target="/ppt/slides/slide3.xml" Id="R2f266998a7c04e5a" /><Relationship Type="http://schemas.openxmlformats.org/officeDocument/2006/relationships/slide" Target="/ppt/slides/slide4.xml" Id="R8c5919cf66744403" /><Relationship Type="http://schemas.openxmlformats.org/officeDocument/2006/relationships/slide" Target="/ppt/slides/slide5.xml" Id="R627a19969d9449e6" /><Relationship Type="http://schemas.openxmlformats.org/officeDocument/2006/relationships/slide" Target="/ppt/slides/slide6.xml" Id="Re74ce71013fd49c6" /><Relationship Type="http://schemas.openxmlformats.org/officeDocument/2006/relationships/slide" Target="/ppt/slides/slide7.xml" Id="R3e08f167da4c4c57" /><Relationship Type="http://schemas.openxmlformats.org/officeDocument/2006/relationships/slide" Target="/ppt/slides/slide8.xml" Id="R31a5f6b8ddfd4d55" /><Relationship Type="http://schemas.openxmlformats.org/officeDocument/2006/relationships/slide" Target="/ppt/slides/slide9.xml" Id="R173a327f3db64723" /><Relationship Type="http://schemas.openxmlformats.org/officeDocument/2006/relationships/slide" Target="/ppt/slides/slide10.xml" Id="R689df17cf7554821" /><Relationship Type="http://schemas.openxmlformats.org/officeDocument/2006/relationships/slide" Target="/ppt/slides/slide11.xml" Id="R6fccac4c0ac2460d" /><Relationship Type="http://schemas.openxmlformats.org/officeDocument/2006/relationships/slide" Target="/ppt/slides/slide12.xml" Id="Rc93de0f867064be4" /><Relationship Type="http://schemas.openxmlformats.org/officeDocument/2006/relationships/slide" Target="/ppt/slides/slide13.xml" Id="Ra55f05523d914a25" /><Relationship Type="http://schemas.openxmlformats.org/officeDocument/2006/relationships/slide" Target="/ppt/slides/slide14.xml" Id="R66efce0e9e8d4500" /><Relationship Type="http://schemas.openxmlformats.org/officeDocument/2006/relationships/slide" Target="/ppt/slides/slide15.xml" Id="Re5067ca9527d45e4" /><Relationship Type="http://schemas.openxmlformats.org/officeDocument/2006/relationships/slide" Target="/ppt/slides/slide16.xml" Id="Ra8ce38bf2c084d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d8b1b201f47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916bcff86a44d3" /><Relationship Type="http://schemas.openxmlformats.org/officeDocument/2006/relationships/notesMaster" Target="/ppt/notesMasters/notesMaster1.xml" Id="R786b4160ba4240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4f6120f5b47be" /><Relationship Type="http://schemas.openxmlformats.org/officeDocument/2006/relationships/notesMaster" Target="/ppt/notesMasters/notesMaster1.xml" Id="R584510f4efc143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f0b41925034c26" /><Relationship Type="http://schemas.openxmlformats.org/officeDocument/2006/relationships/notesMaster" Target="/ppt/notesMasters/notesMaster1.xml" Id="R611f451c65f04c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46d6bdbfe74274" /><Relationship Type="http://schemas.openxmlformats.org/officeDocument/2006/relationships/notesMaster" Target="/ppt/notesMasters/notesMaster1.xml" Id="R147dfb67214640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0b64d61d584dab" /><Relationship Type="http://schemas.openxmlformats.org/officeDocument/2006/relationships/notesMaster" Target="/ppt/notesMasters/notesMaster1.xml" Id="Ra5e53e5b78ef4e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dfeec1d544421d" /><Relationship Type="http://schemas.openxmlformats.org/officeDocument/2006/relationships/notesMaster" Target="/ppt/notesMasters/notesMaster1.xml" Id="Re3d9a85480dc4f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856eb932da42ad" /><Relationship Type="http://schemas.openxmlformats.org/officeDocument/2006/relationships/notesMaster" Target="/ppt/notesMasters/notesMaster1.xml" Id="R925ce2216950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f608d4fd174f24" /><Relationship Type="http://schemas.openxmlformats.org/officeDocument/2006/relationships/notesMaster" Target="/ppt/notesMasters/notesMaster1.xml" Id="R5d723846c6c84a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802820694f4fe7" /><Relationship Type="http://schemas.openxmlformats.org/officeDocument/2006/relationships/notesMaster" Target="/ppt/notesMasters/notesMaster1.xml" Id="R36258ed68e024d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4ff070a8c14dd6" /><Relationship Type="http://schemas.openxmlformats.org/officeDocument/2006/relationships/notesMaster" Target="/ppt/notesMasters/notesMaster1.xml" Id="Rc9ae4b75bf614f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02e87250c24e39" /><Relationship Type="http://schemas.openxmlformats.org/officeDocument/2006/relationships/notesMaster" Target="/ppt/notesMasters/notesMaster1.xml" Id="Rd91fcf7ecd9443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dc6bb8fe674b40" /><Relationship Type="http://schemas.openxmlformats.org/officeDocument/2006/relationships/notesMaster" Target="/ppt/notesMasters/notesMaster1.xml" Id="Rd53868a4b11f46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ec3d7041a04f77" /><Relationship Type="http://schemas.openxmlformats.org/officeDocument/2006/relationships/notesMaster" Target="/ppt/notesMasters/notesMaster1.xml" Id="R9d7fcce1f0bd4f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05dd783440426b" /><Relationship Type="http://schemas.openxmlformats.org/officeDocument/2006/relationships/notesMaster" Target="/ppt/notesMasters/notesMaster1.xml" Id="R2e4fd34001d841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c3cbbaa7504473" /><Relationship Type="http://schemas.openxmlformats.org/officeDocument/2006/relationships/notesMaster" Target="/ppt/notesMasters/notesMaster1.xml" Id="Refdbb4f55f874e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fe078199094628" /><Relationship Type="http://schemas.openxmlformats.org/officeDocument/2006/relationships/notesMaster" Target="/ppt/notesMasters/notesMaster1.xml" Id="Rd9ea9c9d4654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aa63892a4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94afcca9e4673" /><Relationship Type="http://schemas.openxmlformats.org/officeDocument/2006/relationships/slideLayout" Target="/ppt/slideLayouts/slideLayout1.xml" Id="Rdf71bffdc3154f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71bffdc3154f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302700c9c41ec" /><Relationship Type="http://schemas.openxmlformats.org/officeDocument/2006/relationships/notesSlide" Target="/ppt/notesSlides/notesSlide1.xml" Id="R6f3effdbfacd41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82a0fad1949f7" /><Relationship Type="http://schemas.openxmlformats.org/officeDocument/2006/relationships/notesSlide" Target="/ppt/notesSlides/notesSlide2.xml" Id="R549b16f4cc58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d3ed361bc4c33" /><Relationship Type="http://schemas.openxmlformats.org/officeDocument/2006/relationships/notesSlide" Target="/ppt/notesSlides/notesSlide3.xml" Id="R08e35f79d9f541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af31ec67543d4" /><Relationship Type="http://schemas.openxmlformats.org/officeDocument/2006/relationships/notesSlide" Target="/ppt/notesSlides/notesSlide4.xml" Id="R946277b9b57440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0f9b036284d96" /><Relationship Type="http://schemas.openxmlformats.org/officeDocument/2006/relationships/notesSlide" Target="/ppt/notesSlides/notesSlide5.xml" Id="R95852d0d33e147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e7bba67774a0a" /><Relationship Type="http://schemas.openxmlformats.org/officeDocument/2006/relationships/notesSlide" Target="/ppt/notesSlides/notesSlide6.xml" Id="R599cd577a99647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60c62ecec42d6" /><Relationship Type="http://schemas.openxmlformats.org/officeDocument/2006/relationships/notesSlide" Target="/ppt/notesSlides/notesSlide7.xml" Id="R71b99c52e13a46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4a6bdad4e4a7e" /><Relationship Type="http://schemas.openxmlformats.org/officeDocument/2006/relationships/notesSlide" Target="/ppt/notesSlides/notesSlide8.xml" Id="R177e7bf8e25642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54b2655384a72" /><Relationship Type="http://schemas.openxmlformats.org/officeDocument/2006/relationships/notesSlide" Target="/ppt/notesSlides/notesSlide9.xml" Id="R232ca26711db4d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063df88ab4238" /><Relationship Type="http://schemas.openxmlformats.org/officeDocument/2006/relationships/notesSlide" Target="/ppt/notesSlides/notesSlide10.xml" Id="R39074107386149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f3753bebb4d99" /><Relationship Type="http://schemas.openxmlformats.org/officeDocument/2006/relationships/notesSlide" Target="/ppt/notesSlides/notesSlide11.xml" Id="R6e84b5c9b0374a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999c3681b4638" /><Relationship Type="http://schemas.openxmlformats.org/officeDocument/2006/relationships/notesSlide" Target="/ppt/notesSlides/notesSlide12.xml" Id="R66629ce8e14049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1da4979ab4d60" /><Relationship Type="http://schemas.openxmlformats.org/officeDocument/2006/relationships/notesSlide" Target="/ppt/notesSlides/notesSlide13.xml" Id="R49bf42eefa504a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4c71960064cf7" /><Relationship Type="http://schemas.openxmlformats.org/officeDocument/2006/relationships/notesSlide" Target="/ppt/notesSlides/notesSlide14.xml" Id="R203c5633dfe843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883f478e4cfc" /><Relationship Type="http://schemas.openxmlformats.org/officeDocument/2006/relationships/notesSlide" Target="/ppt/notesSlides/notesSlide15.xml" Id="Ra164c4028ab443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0834625244293" /><Relationship Type="http://schemas.openxmlformats.org/officeDocument/2006/relationships/notesSlide" Target="/ppt/notesSlides/notesSlide16.xml" Id="Ra897c04a4a2740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E6938E-BA02-4C85-96DD-3F7A4E64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DMALA on flattened one-hot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D2A66-8364-40A9-9393-E1DB31F6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Concrete code pipeline for variable-cardinality tabular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E9C24-9AE2-44C7-9B76-E691CB2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58647-8733-426B-8509-5C71731B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51E4C-36DD-4C53-9144-1ACEDDB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SAMPLER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17999-16AE-42C1-AA46-99319AF6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LangevinSampler(mh=True)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C3955-6063-4AC6-AC9F-41B8A8A6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86100"/>
            <a:ext cx="400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C757F-06E2-49AC-8A98-BACF2302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813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DATA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693A8-9588-43F3-B88C-B3C1C85B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(batch_size, total_encoded_features)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FAFAE-0EED-4031-8E4B-B232DEEE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48DC1-F5CE-4293-90DC-CB5C85AA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MAIN CAVEAT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73000-9C03-421E-97C2-6B89F7D2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One-hot blocks are not enforced</a:t>
            </a:r>
          </a:p>
        </p:txBody>
      </p:sp>
    </p:spTree>
    <p:extLst>
      <p:ext uri="{BB962C8B-B14F-4D97-AF65-F5344CB8AC3E}">
        <p14:creationId xmlns:p14="http://schemas.microsoft.com/office/powerpoint/2010/main" val="725659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04046-B59D-4AE6-906C-A8589CD3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MAIN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FC0B5-CE74-42C8-8527-C7D206D2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Different cardinalities run because preprocessing flattens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85154-8AC9-4834-9209-EBB2E1CE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91AE9-BEF8-4389-AB90-7A12F222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9A616-DE04-4ABE-9387-8A17769C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954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Original 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71F9F-3578-4440-86DC-70A3485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F823C-490F-4E11-8D7A-3BC77F6E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8954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Cardinality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A13ED-36C8-4C7E-BA15-92E9AEF4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50633-B471-4142-A1FB-151E6E82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954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One-hot 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E5B12-DE1B-45E8-9711-C5F624E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7785A-3D54-4180-9199-C6197DB0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954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Flat index 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FEE8-5C96-4B42-BDE2-BC5F6A6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EDEF8-7931-48C2-B549-C2C4F7AD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479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2A847-88A2-4B3A-AC2D-1AAB6B6F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5E0E4-9165-4680-AC69-9325B0B2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479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613E8-9358-4632-8A98-FD5D0836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2A5BF-A5EF-468C-85E0-6BC1D759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2479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[0, 1]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40C5C-0607-4E47-810B-25B28E64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4D892-554A-4ABA-9A9A-677769EA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479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0:2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C3D54-1A9B-4C9C-9A28-8F95061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D8384-4FB3-4401-BE73-5ECE1B54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575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E9F65-E4CB-491C-BB71-85CFE3EC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56A01-27E0-4470-91F5-25153759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575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3CE98-D89E-438A-8BC7-7BBB4FAC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BA2CBD-DC10-4AA2-A755-18D0F832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575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[0, 0, 1, 0]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55388D-FDC7-4A19-A717-D1057FB1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00773-D1C1-47EE-A668-40CD5C6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575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2:6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2A32C-CEFD-4375-A5C1-0908E267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A195DD-063A-42C7-B0B2-683F349D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671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670D4B-5694-49CB-9B2F-0F5F0870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F0868-4E3B-4E57-A339-D900F184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671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88F7AC-98F9-4951-AA54-A1C0C3A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9090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132ABB-3154-44E4-A0A5-B7489BBF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4671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[1, 0, 0]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4073B7-4E89-4135-8F7A-2D10896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E654A-E9F0-48AB-AB10-89C596DF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671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6:9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52C61-1125-4268-BC7F-7553F650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8343B1-8071-4BED-9608-B670422C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705350"/>
            <a:ext cx="950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The sampler does not receive a ragged categorical tensor. It receives one rectangular flat vector with total dimension 2 + 4 + 3 = 9.</a:t>
            </a:r>
          </a:p>
        </p:txBody>
      </p:sp>
    </p:spTree>
    <p:extLst>
      <p:ext uri="{BB962C8B-B14F-4D97-AF65-F5344CB8AC3E}">
        <p14:creationId xmlns:p14="http://schemas.microsoft.com/office/powerpoint/2010/main" val="1236842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6CCE0-C1D8-4258-8E82-1C00897F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DUMMY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7A0DB-6A67-4786-81B1-13B2116B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Use unequal cardinalities so the dimensions are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03E42-1859-4075-A959-7B92C35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9B5A7-77A7-4C24-8892-4C69CA50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F4C74-8166-4E8D-B90D-C7CFC151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954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7B9FF-6CD1-4E87-87FE-FD09F288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2067F-7513-4DDF-9407-9FD1AFA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8954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Feature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DF58C-1F9F-4B5F-A241-1064E8BB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526D6-AD3C-4B77-A0D8-74E66B2E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954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Feature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C14A4-B850-46F2-B7D4-85A58D6E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E971D-26BB-4332-8F00-662BF72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954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Feature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D7ED7-8EBE-4081-9291-EEB07195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F99F0-7D42-492B-B4D7-A4AE369B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954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Integer 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8D9ED-0806-4D99-9AF9-B8C70526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238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FE45F-A384-4F7D-8C1C-CA6FE02D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47900"/>
            <a:ext cx="1066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D0C29-E3C7-4017-A9F4-0F441CD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2381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E1689-B83A-4E4D-9032-839BFC4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247900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class 1 of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0D720-5B30-49F6-92E6-923774BA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2381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7A1F1-41AA-4EAB-AB38-0C4673E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47900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class 2 of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77AA4-7A02-4F3F-B959-AC89540C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2381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D8D21-72CB-4C8A-B563-974D994A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47900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class 0 of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49925-138E-4413-91A8-BDC5689A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2476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89210-E6AF-44FC-B8FA-EEB1D768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47900"/>
            <a:ext cx="2305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[1, 2, 0]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EBB26-2493-48A0-AF12-6712AC01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238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6000F4-9446-415C-900B-E7278C48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24175"/>
            <a:ext cx="1066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55DB9-B6A0-43C8-B6AE-BD5CC3B0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47975"/>
            <a:ext cx="2381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F50DDD-552D-4DA6-AFDD-5E9C9CEE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24175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class 0 of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FB5ED8-18C6-4BF4-B6F4-6662652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47975"/>
            <a:ext cx="2381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9FE689-4975-4353-B3AA-FC0D70D6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24175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class 3 of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048501-8EB9-47B1-8C5D-9031369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47975"/>
            <a:ext cx="2381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A4281-A6FA-47B1-A61B-32749AD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24175"/>
            <a:ext cx="220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class 2 of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58247-CE88-4F6B-80B6-93CFC2DE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47975"/>
            <a:ext cx="2476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C36964-3DB0-4206-85A0-BF46FD5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24175"/>
            <a:ext cx="2305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[0, 3, 2]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F6ED34-2229-4E82-A25F-928751E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F0AF8F-8567-466F-A10D-BF6898B1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814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Quantity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0314E8-3B51-4259-AA97-2E476050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A41960-5B53-4F0D-AECD-301668BB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81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Value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D95E76-99BE-4D88-886E-E6016FB5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3CAAF8-0E1B-4548-8043-16A2067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81475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Interpretation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9CB370-4029-4431-A855-22DD4BB9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24765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0CB866-E32F-4091-9CA2-472DDD45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533900"/>
            <a:ext cx="23050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batch_size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343DAB-144F-4C8D-8A78-408F3276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17145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F81B03-EA2C-4307-8BB7-F52D94F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33900"/>
            <a:ext cx="15430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41986D-81A9-4886-A29B-057C2A08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45720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DABA75-57AB-47B1-A87E-3D94B813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533900"/>
            <a:ext cx="44005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two samples in the mini-batch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EF404E-8627-46B2-B3F9-1B890792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45050"/>
            <a:ext cx="24765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BCFA19-A789-4E33-A6B3-1FE5E50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21250"/>
            <a:ext cx="23050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raw feature count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EF6D4F-3D25-420C-BF3B-5801C8A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45050"/>
            <a:ext cx="17145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CB5969-7227-41C3-856F-C6FEDDF7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921250"/>
            <a:ext cx="15430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E8D678-C3DF-4E45-89E6-6CC9CB1E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45050"/>
            <a:ext cx="45720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B956E7-07F2-44DE-857A-FA0F2FF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921250"/>
            <a:ext cx="44005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A, B, C before encoding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C899AB-BFCD-478C-B450-C9606842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2400"/>
            <a:ext cx="24765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D9B821-4552-4881-8394-4BB447AE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308600"/>
            <a:ext cx="23050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flat data_dim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7FEC03-7942-4DAE-AA23-4DBA1FDC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2400"/>
            <a:ext cx="17145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C5F746-892D-422A-859B-7A5FF06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308600"/>
            <a:ext cx="15430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9F18B1-4DB7-4A9E-9D90-16755CCA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32400"/>
            <a:ext cx="4572000" cy="38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4272B2-67E6-4D48-BA61-E9E9F99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308600"/>
            <a:ext cx="440055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sum of all one-hot block lengths</a:t>
            </a:r>
          </a:p>
        </p:txBody>
      </p:sp>
    </p:spTree>
    <p:extLst>
      <p:ext uri="{BB962C8B-B14F-4D97-AF65-F5344CB8AC3E}">
        <p14:creationId xmlns:p14="http://schemas.microsoft.com/office/powerpoint/2010/main" val="1601540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53459A-18AC-47E7-B960-8E1FE7DF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FLATTENED 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5BF5F-309C-4EDF-ACDB-638E142B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model and DMALA see one binary 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CB7D6-AB8C-45D2-916C-28194DF4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C4F63-1ECD-4310-8273-44DCEEC0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5F8CE-8825-471F-B5D7-8ED4104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526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E1E56-6796-4A0B-BDCA-3EFC3B8E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668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E95D8-1D46-422B-A5C2-6C7EA731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7526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Feature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05810-10C8-4663-869B-0BD6B80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6687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822A4-1062-4DA7-8979-C7192B10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526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Encoded 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3D2F8-B022-4282-8FAC-9DAD09F9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D0CB7-3A3F-4E61-A6A3-0EECF521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526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Flat positions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41EF7-B02B-423A-81F5-535B986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28825"/>
            <a:ext cx="18097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9397C-3CBD-468F-AD4A-1E71A1DD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05025"/>
            <a:ext cx="16383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90801-3F1D-4421-A5BA-C6A3F040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28825"/>
            <a:ext cx="20002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80E17-2FCD-4C14-884C-CAC81515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05025"/>
            <a:ext cx="18288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class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5F50C-2838-4AFE-8CAD-A66C79A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28825"/>
            <a:ext cx="47625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F7AA5-3A97-4E64-8A78-17D9DE68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05025"/>
            <a:ext cx="459105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[0, 1]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7E459-37AB-4714-AF26-8DA0BDF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28825"/>
            <a:ext cx="26670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0CDAB-4937-4871-8C74-846A58C5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05025"/>
            <a:ext cx="249555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x[0:2]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EB564-C29B-40A6-8451-7A004E0D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2713"/>
            <a:ext cx="18097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62BD2-9A7F-47A0-820B-E37723DB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28913"/>
            <a:ext cx="16383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AF459-7E1E-4C6C-97A1-0FA898C8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52713"/>
            <a:ext cx="20002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FE0F3-C28C-4FC0-8187-E0B8DB2C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728913"/>
            <a:ext cx="18288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class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3168A-EB80-48BF-AAEF-610F5178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52713"/>
            <a:ext cx="47625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326B6-6867-4F02-AFCE-AC4FBA77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8913"/>
            <a:ext cx="459105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[0, 0, 1, 0]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AED13-FC2B-4120-A879-ECF08D5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52713"/>
            <a:ext cx="26670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85077-BEE2-4E73-8D9E-511C8513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28913"/>
            <a:ext cx="249555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x[2:6]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3C1C8-A218-4D34-BED1-45A6B3AF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76600"/>
            <a:ext cx="18097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9DBD7-AC2C-44B6-A8BC-0F752DE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52800"/>
            <a:ext cx="16383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306392-9E5D-4257-B362-EB29E751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76600"/>
            <a:ext cx="20002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DEE4F6-3601-4A2E-A22E-59B42C7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52800"/>
            <a:ext cx="18288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class 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7588F9-28F5-4235-AECA-769475FD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47625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68D3F-4901-4996-AFD2-2891842F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52800"/>
            <a:ext cx="459105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[1, 0, 0]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32D65-51A1-4D6C-AE03-39F5336E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76600"/>
            <a:ext cx="26670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E061D-26C5-47FA-B0D3-2868D00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352800"/>
            <a:ext cx="249555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x[6:9]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F3E47E-6360-46F6-972F-1DB64CEC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0488"/>
            <a:ext cx="18097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321FD7-B1D8-4602-9582-C431A1DF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76688"/>
            <a:ext cx="16383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Concatenated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F5FA4F-1A86-4813-92FD-01F48D2F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0488"/>
            <a:ext cx="20002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DB0AC6-8A63-4D5E-828B-42EA822E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976688"/>
            <a:ext cx="18288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-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D1439D-5ACC-4022-A739-B5375473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0488"/>
            <a:ext cx="47625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4340AA-54E6-44B4-B075-462EFA90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76688"/>
            <a:ext cx="459105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[0,1, 0,0,1,0, 1,0,0]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497B9A-56F6-479F-AD58-D7681A2C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0488"/>
            <a:ext cx="26670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DAFA7E-2D09-4AEC-9582-B621D53E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76688"/>
            <a:ext cx="249555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x.shape = (9,)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30968E-CFC5-41ED-9861-9AE0D20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971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E32FFD-FA89-43EC-A15D-85110AF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For a batch of two rows, the tensor is X.shape = (2, 9). The original feature grouping is not represented as a tensor axis.</a:t>
            </a:r>
          </a:p>
        </p:txBody>
      </p:sp>
    </p:spTree>
    <p:extLst>
      <p:ext uri="{BB962C8B-B14F-4D97-AF65-F5344CB8AC3E}">
        <p14:creationId xmlns:p14="http://schemas.microsoft.com/office/powerpoint/2010/main" val="1202676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07FD2-870D-4AE0-B37C-F239E121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WHERE THIS HAPPENS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0F0A4-12CF-4151-87CF-2B84469F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tabular loaders concatenate separate one-hot blocks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E346A-9171-401C-8648-249C70DE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47024-D44E-4C18-8ED3-AE75513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3EB6B-CA1A-418F-A7D3-8215F773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526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Code 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4B101-6F15-447C-90AC-9C8CB7DF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C0758-F06B-47AB-9966-00D33FF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7526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0D9A1-C29A-45E2-86FF-9533250A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76F1A-EBBE-4CB7-8401-5BF3F9D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526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C14D7-3C10-4F4E-8C8B-DDF22F1C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28825"/>
            <a:ext cx="3143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8A7E5-102E-409F-AF27-03724739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05025"/>
            <a:ext cx="2971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generate_one_hot_mat(mat)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128F5-95A0-4720-9EDD-56C6D1F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28825"/>
            <a:ext cx="30480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19D02-4531-47E6-B347-FB6BB49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105025"/>
            <a:ext cx="28765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BinaryBNN/adult_loader.py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3FE36-99E2-4002-B71A-4E6FD1DB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28825"/>
            <a:ext cx="5048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00050-AF54-42EC-8561-3DBF9075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105025"/>
            <a:ext cx="4876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Builds one block of length max(class)+1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942FA-D717-4DD8-A1B9-A9768222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5088"/>
            <a:ext cx="3143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430F8-8869-4B8F-9F47-846C19D3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81288"/>
            <a:ext cx="2971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np.concatenate(..., axis=1)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EB5E6-9E3B-43D2-AAD8-96096B0A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5088"/>
            <a:ext cx="30480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4E2D9-D84D-4E14-A941-919C896F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81288"/>
            <a:ext cx="28765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BinaryBNN/adult_loader.py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4B0A1-1AA4-4E7A-99AB-2FAEFAFE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5088"/>
            <a:ext cx="5048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258E8-D922-49D4-B09C-766C7596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81288"/>
            <a:ext cx="4876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Appends the block to the flat feature matrix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199EC-C380-45A9-8015-75090191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81350"/>
            <a:ext cx="3143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0FCE7-9BF8-4E28-A840-3D3CEE9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57550"/>
            <a:ext cx="2971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start_index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FA3C1-B2DB-40E8-89E8-B94D5C37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30480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BB30DC-2D11-4F99-B53D-A391BAA7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57550"/>
            <a:ext cx="28765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BinaryBNN/*_loader.py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AD5BF-ADC9-45B3-8B3F-7E6DF8AC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5048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A3C8D-2A20-4FFD-9A45-8C27EA4B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57550"/>
            <a:ext cx="4876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Records where each categorical block starts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6D76E-3D9C-4D32-9EF3-7CA25263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57613"/>
            <a:ext cx="3143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C67957-0C15-4EA5-BF7E-999D04B0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33813"/>
            <a:ext cx="2971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cat_length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F22B94-2AF4-4D7A-86D0-2A501C7D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7613"/>
            <a:ext cx="30480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DA4C8-0C62-448E-81EB-10BFBF2A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33813"/>
            <a:ext cx="28765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BinaryBNN/*_loader.py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633395-A7DB-49F7-85B5-B0AEA117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7613"/>
            <a:ext cx="5048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0BAE47-0141-4EE5-B042-64E218B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33813"/>
            <a:ext cx="4876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Records each categorical block length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E9FEE0-2091-4D46-A466-6515FDA9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019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99D363-A01C-4DDB-8733-85AD3235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95850"/>
            <a:ext cx="9886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mat = generate_one_hot_mat(mat)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start_index.append(data_feature_normalized.shape[1])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cat_length.append(mat.shape[1])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data_feature_normalized = np.concatenate((data_feature_normalized, mat), axis=1)</a:t>
            </a:r>
          </a:p>
        </p:txBody>
      </p:sp>
    </p:spTree>
    <p:extLst>
      <p:ext uri="{BB962C8B-B14F-4D97-AF65-F5344CB8AC3E}">
        <p14:creationId xmlns:p14="http://schemas.microsoft.com/office/powerpoint/2010/main" val="1407414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60FB4-1C46-4731-B4AA-CBA43334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SAMPLER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CFB58-AA80-455B-B579-55A8156A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With dmala, the code uses LangevinSampler with MH enabled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6E4ED-7C13-4697-A3A7-1E1F64E1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2B808-F0DB-428A-9E79-7BF20755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02ED8-2408-4252-885B-094ECA96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47850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Input setting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60231-93CA-4471-8BE8-3E5DB55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62125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9FF40-7559-43EE-A88A-3094C9C9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478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Code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B77E8-2EF9-41B1-A652-DC3AE33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45914-777D-47DE-977D-C0962C2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47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Class constructed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D624F-C4E2-4A56-A65B-DEB13AF7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714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960D9-711D-424B-B1F8-BDBE1D20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543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313F9-B66D-47BE-B8DE-6B980A59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24075"/>
            <a:ext cx="2333625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2E09A-97E5-4358-8411-D3242F95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200275"/>
            <a:ext cx="2162175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args.input_type == binary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26817-19F6-4086-AFEB-56E859D1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24075"/>
            <a:ext cx="3048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D88DF-B149-42E3-9857-A490C17E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0275"/>
            <a:ext cx="287655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pcd_ebm_ema.py:get_sampler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31510-3097-4DF2-BC96-B4832186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24075"/>
            <a:ext cx="3143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2CF47-30A6-4F5C-BBA0-DB5953EE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0275"/>
            <a:ext cx="2971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LangevinSampler(..., mh=True)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AA85F-21FF-404C-B7F6-282E9C6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24075"/>
            <a:ext cx="2714625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A03B4-7043-430B-8F31-0C2EA21E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0275"/>
            <a:ext cx="2543175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DMALA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E31CC-FFD7-4FA2-811C-00D03216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5425"/>
            <a:ext cx="2333625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7C9B9-7E21-41DE-9DCE-156BC591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41625"/>
            <a:ext cx="2162175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approx=True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CD2E3-EBE2-4C6D-86C5-BB5ADB16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5425"/>
            <a:ext cx="3048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003FB-E67C-4E8A-B2EE-C879C31E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41625"/>
            <a:ext cx="287655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LangevinSampler.__init__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65650-7D35-45F8-BB34-03B6FCEF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65425"/>
            <a:ext cx="3143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CFFD3-1BDF-4F9F-B02C-CFB749CC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41625"/>
            <a:ext cx="2971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approx_difference_function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E0AEC-0D66-4C84-A892-9673450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65425"/>
            <a:ext cx="2714625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8A52F-DBF0-4972-A4FB-BA7A2463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41625"/>
            <a:ext cx="2543175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uses gradient approximation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2E1399-C5DF-40BA-8379-425BE1BA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6775"/>
            <a:ext cx="2333625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BB733C-5BB5-4314-B15D-A9DD20BB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82975"/>
            <a:ext cx="2162175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mh=True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29C9AA-F625-4D62-9DF9-F75314FB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06775"/>
            <a:ext cx="3048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9066D-7E27-4B5D-A976-B39F46C7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2975"/>
            <a:ext cx="287655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LangevinSampler.step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7C400-89F0-4BF3-87AC-CE04E11F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6775"/>
            <a:ext cx="3143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58AE6C-B51E-4AAC-B410-1C511802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82975"/>
            <a:ext cx="2971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accept/reject correction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63A7A3-FCD9-4122-9495-0297D360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06775"/>
            <a:ext cx="2714625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1AA1DA-51DC-4341-A33F-FE98745D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82975"/>
            <a:ext cx="2543175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Metropolis-adjusted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50CE34-DB8E-4A4E-8AC1-A713E7B7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914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AFE32B-B8FE-43C4-9296-613FC046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00600"/>
            <a:ext cx="883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elif args.sampler == "dmala":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  sampler = samplers.LangevinSampler(data_dim, 1,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      approx=True, temp=2., step_size=args.step_size, mh=True)</a:t>
            </a:r>
          </a:p>
        </p:txBody>
      </p:sp>
    </p:spTree>
    <p:extLst>
      <p:ext uri="{BB962C8B-B14F-4D97-AF65-F5344CB8AC3E}">
        <p14:creationId xmlns:p14="http://schemas.microsoft.com/office/powerpoint/2010/main" val="167315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3E94E-7466-42FE-B03D-E0F0EB4B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PIPELINE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06A25-CC7D-4B4A-B6B2-D8ADEBCC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shape stays flat while the values are sampled and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7A2FB-ED07-4C3F-B2BA-F606A22A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15B7E-B47D-429E-93B2-AA33D76B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96B1A-BBF2-4FDE-BB16-8FA9F93B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flat batch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E30B8-595D-4370-BA02-78F25A64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05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A7810-8E9F-4545-975E-04CED769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1462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12DF0-3960-4FAF-980C-4CCCEAFB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33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score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D55B0-D7C4-4E31-BB52-C092F47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F3469-FC39-45B1-A05E-E78E01C1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1462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D0BB3-5687-4B77-AE69-1F3F2497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33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start fake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0A9ED-FDE1-4174-BCFF-2B1F4967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D8435-E5C2-4679-ADF1-6A1AA25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2054F-7164-4E2F-9843-5637CF3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DMALA 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882BB-EC0B-4C5F-B3C2-4FC793D4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8860A-54AC-4B53-A2EA-C56121D8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F2F9B-B072-4809-BF57-120DFF26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score fake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27ED1-D123-4605-B37F-67191934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E6377-A12B-4BEB-AE1A-65CE3652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1FE58-7CFA-4DF9-8D56-C666F27C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33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17829-2B85-48CD-B89C-7CA22B2B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05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136EE-3BAA-4E18-A706-51650395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EB4884-38EA-4CF4-A9F5-4066BCA1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33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435EB-B1F8-4DC9-94B9-8CFAE5AB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EBBE4-EF54-45BA-8763-C1FC0822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2767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Object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032DFF-F2C2-47D6-80B4-48CC56EA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9BE3D-CD5C-42A8-9DB8-7C5E90A1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767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Shape in example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6C208D-E462-4EDA-82D5-BCD6E314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3A21CA-25F1-4F04-9617-D22DFB7D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291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DBD7C-79BC-48D9-A4D6-ECD8846A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CE227E-4AE7-407E-A328-92285B0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629150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0AC2DB-EA2B-4A4D-9AE0-4554ECE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0482E3-9089-4BBF-9DA5-5D353B82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8958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x_fake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FE05B-AE08-4A82-8337-57F19C03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593969-3BA2-4D44-BCFE-9853F4E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5850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363062-EB54-47F9-9189-1860D48D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16C331-23F0-412D-A91F-2A674C82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625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model(x)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277463-2C55-4474-B6A0-51C5BC92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2BB18-E072-4816-B6E8-B20507D9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62550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563AE9-1044-4CE7-A2AC-4ED408EC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53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C0BF8E-0A80-4407-B29E-85828584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4292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loss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49B395-1B0B-4636-A328-CEB99FEA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530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4C1C4D-0FD5-481C-B1F4-EB4D1C40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429250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scalar</a:t>
            </a:r>
          </a:p>
        </p:txBody>
      </p:sp>
    </p:spTree>
    <p:extLst>
      <p:ext uri="{BB962C8B-B14F-4D97-AF65-F5344CB8AC3E}">
        <p14:creationId xmlns:p14="http://schemas.microsoft.com/office/powerpoint/2010/main" val="667922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86626-3AD9-467A-8B77-F9731D6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BATCH AND MODEL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C5C9C-CCAD-4C70-8685-F1C9C123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EBM maps each flat vector to one scalar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A1174-2D74-46CD-850D-C203D91C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0BC8A-EDD5-4933-8E7C-BDDAC154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8DC09-8411-44A7-9B01-3B581F1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7526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E4F98-AC4E-4CAC-B09C-7DCE6D06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66875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97B7F-3405-4025-9A0B-148703EC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752600"/>
            <a:ext cx="516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0D098-9042-4553-A6A7-862D75F0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668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58962-28C7-42AF-9108-436EE567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7526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Input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2802B-2C77-425C-8F1D-078760E6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66875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78C44-3F80-4CCF-8988-7418A936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526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Output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788EB-4BA6-4685-8127-C3C7D870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20955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A685E-98D8-4D58-9E10-DAD9FAE9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05025"/>
            <a:ext cx="19240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batch enters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B8489-CBF1-490E-8356-E8F6B028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28825"/>
            <a:ext cx="53340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5ADB1-5D6C-4FA6-B571-0E8D7631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105025"/>
            <a:ext cx="51625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x = preprocess(x[0].to(device).requires_grad_())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C1A86-8F7E-4793-B5F2-A133ADD5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19050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DA84C-7E13-4232-8AE3-CD9C9056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05025"/>
            <a:ext cx="17335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8330D-0A9B-4497-AA37-69D4AC9B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28825"/>
            <a:ext cx="20574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961D2-6511-44F1-A887-A372E24D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105025"/>
            <a:ext cx="18859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DE5AD-D4BE-4E09-82CB-EB0C6884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6675"/>
            <a:ext cx="20955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328FC-0ADF-4E1B-AA24-54F018B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82875"/>
            <a:ext cx="19240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score real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CC58D-A050-4B3A-9571-E18884AC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6675"/>
            <a:ext cx="53340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3D9DB-BDB1-459D-8480-C6855B93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82875"/>
            <a:ext cx="51625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logp_real = model(x).squeeze()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E4395-B38C-402C-B180-1BCCA2A3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6675"/>
            <a:ext cx="19050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98753-C486-40FA-9E9C-982BFE9E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682875"/>
            <a:ext cx="17335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47EF6-D263-4F5D-8D75-4BD8E45C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6675"/>
            <a:ext cx="20574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D63ED7-DF89-43FE-B742-16DD88C2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682875"/>
            <a:ext cx="18859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B55A5-3AF2-4C8C-8020-0B500D79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4525"/>
            <a:ext cx="20955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0FD46-5790-449D-B1FF-0C324D97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60725"/>
            <a:ext cx="19240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start fake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839058-EFA7-4BF7-AFDA-1B4ED72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4525"/>
            <a:ext cx="53340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56334-5A4C-493A-92FF-BC7F90C0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60725"/>
            <a:ext cx="51625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x_fake = ... buffer / reinit ...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8606DB-C1D1-43B7-974E-CF109EC3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84525"/>
            <a:ext cx="19050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2F8890-84EC-4679-8957-D396878D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60725"/>
            <a:ext cx="17335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217E5-448E-48AC-B03A-BAF5ED5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84525"/>
            <a:ext cx="2057400" cy="57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A0D13F-C0FC-46D1-B1EA-E56316DC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260725"/>
            <a:ext cx="188595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BD4732-CFA2-47DC-A657-509B4290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0DA28E-4B4C-49F7-B7D5-5E9FD634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941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The model score is not a class probability. It is an unnormalized log-score used by the EBM objective and the sampler.</a:t>
            </a:r>
          </a:p>
        </p:txBody>
      </p:sp>
    </p:spTree>
    <p:extLst>
      <p:ext uri="{BB962C8B-B14F-4D97-AF65-F5344CB8AC3E}">
        <p14:creationId xmlns:p14="http://schemas.microsoft.com/office/powerpoint/2010/main" val="633429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1429D2-64A0-4AEA-8F82-5DEA5F12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GRADIENT FLIP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B21E2-533A-4184-8EBC-FA79B50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DMALA estimates whether each bit should flip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10223-513D-4618-9EDD-32137970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333B4-4602-42B8-940B-7E74D9C7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EEBF9-963B-45D2-A6D7-DC80FB9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4648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gx = torch.autograd.grad(model(x).sum(), x)[0]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wx = gx * -(2. * x - 1)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forward_delta = wx / temp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B5664-71A3-44CB-9939-4EE5FB38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6CCCF-C437-4977-BEA6-36AA413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0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6A893-8C86-49B7-91FB-FF0F6421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38B84-9114-4950-B877-C8F3F5AA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29584-FC67-4E52-ABAF-705872D9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B26B2-296A-47CF-850E-530076A3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049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109BC-8147-4389-B6F9-3BC8A41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58A5D-61C2-4EBF-9D88-05C46B8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57400"/>
            <a:ext cx="1352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B48DA-E431-4E4D-91DA-EAF5F65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1143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89286-98CC-47BF-AD1F-5677E923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57400"/>
            <a:ext cx="971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FD6DF-032E-488A-9323-AD13C523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476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AD7AC-D92C-4623-9EE1-7BC03A16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57400"/>
            <a:ext cx="2305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current fake batch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DA42E-2F9A-41EA-9336-BF02BB53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86025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81523-2A2E-4A34-B70A-1DFEEA69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62225"/>
            <a:ext cx="1352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085F0-1011-4F01-8522-91CCE63B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86025"/>
            <a:ext cx="1143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74931-2273-4BAD-88B9-7DA83CF5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62225"/>
            <a:ext cx="971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EA31F-D505-44E8-97B6-81B80EB5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86025"/>
            <a:ext cx="2476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15328-FC27-4D44-90ED-BE62C08B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62225"/>
            <a:ext cx="2305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gradient per flat bit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E26DF-43D1-4462-ABB5-E4953D0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A47D5-07BB-41A5-92BC-35A1EB1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67050"/>
            <a:ext cx="1352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wx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CD190-2986-4924-BB63-E59A6C7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1143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3D57E-82CF-466F-8F37-7DE713A4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67050"/>
            <a:ext cx="971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163B2F-DD57-41F3-8FC7-FA47350B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2476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BAC79-AFE0-498F-8A9A-7F4E7F54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67050"/>
            <a:ext cx="2305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gradient projected toward the bit flip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78869-561A-418F-8376-BA481881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2BFCBF-F0D1-4361-8737-0744D5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71875"/>
            <a:ext cx="1352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forward_delta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B3B03-ED9E-4C33-976E-154A202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95675"/>
            <a:ext cx="1143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0DC2C2-3AD1-4670-B472-D1069EC0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71875"/>
            <a:ext cx="971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(2, 9)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47B827-90A8-4669-8BC1-C28999C1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476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A73A0-7CBD-4AE8-9918-7D5D3C3A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571875"/>
            <a:ext cx="2305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flip attractiveness after temperature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74BBFD-8F5E-4A1F-87DE-84BD9428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720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6AE8F5-4AFB-4AE9-81CE-A5EE5CC3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Current bit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7D7817-03FB-4864-96B9-A5B9B983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720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D63B35-94E8-4B8C-A5AB-1C4B2D17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577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Flip direction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7251C3-78DE-4ED3-8115-AE7E1458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720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789171-3080-4D46-97E1-F600793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577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Score used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D96663-2A32-4C71-917F-4D97F196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33950"/>
            <a:ext cx="2286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27429A-67FD-42CC-9B31-357E2CCA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1015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x_j = 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017C04-4B3C-4801-B2D6-99FC577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33950"/>
            <a:ext cx="2381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51F670-AE0E-4697-8A0B-1F9F23B6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0 -&gt; 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9FAAA2-BE13-480F-8893-F394885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33950"/>
            <a:ext cx="2667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1E1503-8F6C-4028-90DF-2CF1563A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10150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gx_j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AF5F01-C739-4A71-8BFA-2595AFC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86375"/>
            <a:ext cx="2286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64D018-F718-4EE3-A33B-1DF4A2D7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62575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x_j = 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7B761C-2B1F-4181-8192-4FD5C85B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86375"/>
            <a:ext cx="2381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5C0643-32F2-4400-8CF3-F69C8B16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625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1 -&gt; 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72B855-BF12-4DCA-9D5A-F47B76E7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86375"/>
            <a:ext cx="2667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0BBDE1-3D14-4D62-B960-E4CDAAE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62575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-gx_j</a:t>
            </a:r>
          </a:p>
        </p:txBody>
      </p:sp>
    </p:spTree>
    <p:extLst>
      <p:ext uri="{BB962C8B-B14F-4D97-AF65-F5344CB8AC3E}">
        <p14:creationId xmlns:p14="http://schemas.microsoft.com/office/powerpoint/2010/main" val="120933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826D5-CB71-4A8F-80B2-9945E5A0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E672A-1D15-4CDC-9FC9-7DB44B3B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DMALA samples an independent flip mask over the flat 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39F46-C261-434E-A7DB-95482342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6174B-DBE5-4250-8FF1-D356364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D84A6-5E4B-41C1-BF2A-50B9DD2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0225"/>
            <a:ext cx="10553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term2 = 1. / (2 * step_size)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flip_prob = sigmoid(forward_delta - term2)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ind = (torch.rand_like(x_cur) &lt; flip_prob) * 1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x_delta = (1 - x_cur) * ind + x_cur * (1 - ind)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4C9E8-9B37-4B55-AF29-891F72A9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D9BF0-A8C3-4FB9-847A-537DDC5C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052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6D97B-AF4A-4CDA-BAC7-AA27FF65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055F8-ECB1-4634-B38D-DFA73BBB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705225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Example row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E8534-E329-4FD0-8D56-0BD16EDD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87C60-6796-442C-87FF-5EBC779A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70522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3885E-DABA-4BB0-A776-9F6C16E7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52400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BCC5E-2CF8-451B-B90E-589FC445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57650"/>
            <a:ext cx="135255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x_cur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87F4D-F315-4810-B2B8-4E9F2211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542925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26B81-69AF-4DC9-B3D3-0165FC9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057650"/>
            <a:ext cx="525780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[0,1, 0,0,1,0, 1,0,0]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3B87B-A8CA-42CE-BE93-6199DF87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409575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6F4F7-09A8-427D-BB77-80406473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057650"/>
            <a:ext cx="392430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current flattened one-hot 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556FA-1138-4C35-ADD9-C98FB0EE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4050"/>
            <a:ext cx="152400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5A5A2-CC51-428C-A195-EB0D553B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40250"/>
            <a:ext cx="135255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204AE-8C05-4D32-980B-32F8D04B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64050"/>
            <a:ext cx="542925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24891-3E17-40E0-827D-CDB23C5F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40250"/>
            <a:ext cx="525780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[0,0, 1,0,0,0, 0,1,0]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D0A6D-C8C0-40C3-8D10-4379F17E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4050"/>
            <a:ext cx="409575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2CBE2-2179-4371-9A90-CD5E8B5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540250"/>
            <a:ext cx="392430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bits selected for flipping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8242C-6C9D-4BD4-90E6-30DC0F0F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6650"/>
            <a:ext cx="152400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DBD7E-39E7-4457-B820-D64635E6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22850"/>
            <a:ext cx="135255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x_delta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DCCFD-C0CA-4180-AD89-D20DA65F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46650"/>
            <a:ext cx="542925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57BC48-6037-4BC4-B152-F9F6628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022850"/>
            <a:ext cx="525780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[0,1, 1,0,1,0, 1,1,0]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BDE61-3520-407A-B892-4BDA7AE6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46650"/>
            <a:ext cx="409575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8CDA7B-E96A-4EA2-9857-D1631231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022850"/>
            <a:ext cx="3924300" cy="38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proposed row after flips</a:t>
            </a:r>
          </a:p>
        </p:txBody>
      </p:sp>
    </p:spTree>
    <p:extLst>
      <p:ext uri="{BB962C8B-B14F-4D97-AF65-F5344CB8AC3E}">
        <p14:creationId xmlns:p14="http://schemas.microsoft.com/office/powerpoint/2010/main" val="14925734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560EC-D233-43F3-BA1F-11E24CE8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ONE-HOT VALIDITY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B4222-03AB-4429-82FE-FC992F56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Flattened one-hot data can leave the categorical manifold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4137B-63B1-4A38-93AA-ABE0F159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D7BEB-47C9-437F-9DB1-DC825CD6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9B9F2-E42A-41B5-8D37-7DDE4074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7526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CFB5F-3E66-41E5-9AF9-534C6AB0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6687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8A31B-682F-4FB1-AB44-4A006F07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526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Before x_cur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17204-46DF-45F2-BF77-7C2839FB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668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2B830-2ED4-4711-A477-0C293052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526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Flip 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C94BA-1207-4C27-B6EA-C4513B11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AB47F-2531-44FD-AFE7-F265E07F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526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After x_delta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D2F15-29EC-49B5-8770-4CAB6C9F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6687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22DEF-5F2E-4D99-9DFA-236862BE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526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Validity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05AE8-6F8B-4945-A151-9BDBEC53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14287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B9B07-5CAE-44CE-9DAD-2A563F2B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05025"/>
            <a:ext cx="12573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A, len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0E774-2E15-4DF4-90F1-E7C845E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28825"/>
            <a:ext cx="2381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70E59-3E01-4B4F-8811-5E8D61DC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05025"/>
            <a:ext cx="2209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[0, 1]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0890D-E673-44FA-BFBB-E4F7E44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905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2BD83-A5C3-481B-981F-754D8B9F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173355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[0, 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7626D-B71F-4320-A9E2-C98D186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28825"/>
            <a:ext cx="2381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D774C-AA0A-4D56-81A9-204A55DD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05025"/>
            <a:ext cx="2209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[0, 1]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A9D7C-5E58-4534-A634-8230ADE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28825"/>
            <a:ext cx="32956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7ADB7-8109-4B42-9096-EC942362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05025"/>
            <a:ext cx="31242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valid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E45D0-3293-422A-9344-201D2FE6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0175"/>
            <a:ext cx="14287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950D1-6794-4713-B67F-F5983FE6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46375"/>
            <a:ext cx="12573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B, len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C89F06-15C5-4C96-A0F3-21D4B968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70175"/>
            <a:ext cx="2381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B985E-E7E7-4A01-8CFA-7EC7B200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746375"/>
            <a:ext cx="2209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[0, 0, 1, 0]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7505C-3FE2-4689-B8CC-4A850F1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70175"/>
            <a:ext cx="1905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30EBAB-B7DF-4175-A712-4D95E082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46375"/>
            <a:ext cx="173355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[1, 0, 0, 0]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E2BDE-72FD-46C0-8CC5-97663AE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70175"/>
            <a:ext cx="2381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302E45-9C0F-49DC-BD7F-04E9246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746375"/>
            <a:ext cx="2209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[1, 0, 1, 0]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27F14-D928-4C1B-829F-F5986CA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70175"/>
            <a:ext cx="32956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E13FCF-22D8-4552-B23D-45480E6B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746375"/>
            <a:ext cx="31242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invalid: two active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B32EB-8A68-4BE8-B858-141AECE2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1525"/>
            <a:ext cx="14287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4BA7E7-D60C-4C42-B358-CBC628D8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87725"/>
            <a:ext cx="12573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C, len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445FD4-A51F-4F5C-9320-421DCE0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11525"/>
            <a:ext cx="2381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C483CC-60AD-4200-BF9E-6CE98870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87725"/>
            <a:ext cx="2209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[1, 0, 0]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CB7DA9-45CD-4075-8AE8-F567387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11525"/>
            <a:ext cx="1905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49A43-F1E0-45E1-B332-ABD59946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87725"/>
            <a:ext cx="173355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[0, 1, 0]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E39378-B1ED-42E0-A9F9-412507BB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11525"/>
            <a:ext cx="23812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A4C0CD-1438-48E4-8696-2D1215C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87725"/>
            <a:ext cx="22098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[1, 1, 0]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FF73EB-9FDD-4FD0-9319-3DA54973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1525"/>
            <a:ext cx="329565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4EC9BE-8F89-4DF3-AEB1-7B382D9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87725"/>
            <a:ext cx="31242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invalid: two active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29E45D-8197-48D8-B2C2-7D0B8608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71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646006-D940-4CF2-B58A-2D87256F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941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The code runs because the tensor is rectangular. Running does not imply that generated fake samples preserve original categorical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19580053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10EA0A-43B2-4392-B139-6319AFEA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METROPOLIS-HASTINGS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6AD44-0D22-4CB9-908B-9428741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DMALA corrects proposal asymmetry before accepting the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E4FA4-EC60-4DB3-A38F-9682D06F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BBD0A-371E-4FD5-A588-3A7D94F5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2CCBA-567D-4ECE-98E5-1C527EB8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85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Quantity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7EA73-44AA-4CCB-A23B-EEB6A8A2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002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42C6A-563E-4DCB-AC90-501F26A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6859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51AE6-9CD4-42BA-8BFF-D4555668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00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11AAD-AFB3-472D-8A14-7527B968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6859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96771-7A79-45CF-83FB-B23DF564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00200"/>
            <a:ext cx="510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E77A3-01E2-4852-AF8C-26211598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85925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4E6DC-075B-4E7E-9CA3-EAF00ECD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7145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D4FB0-2F80-4941-843B-466746DF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38350"/>
            <a:ext cx="15430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lp_forward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2CFB1-EE81-42BE-9A02-78080BC0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62150"/>
            <a:ext cx="3429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02CC8-4312-4947-A88E-A327E5C2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38350"/>
            <a:ext cx="3257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sum(log(probs), dim=-1)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F09F7-9999-49AC-8D40-839E476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62150"/>
            <a:ext cx="1143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38560-102E-42C5-8004-A58F2D63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038350"/>
            <a:ext cx="971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30772-5F7D-4F89-8AA0-EBA86B7D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51054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37CA7-84BF-4E6E-AE35-B1023859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38350"/>
            <a:ext cx="49339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probability of proposed flip 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E033E-CF3E-4615-9B88-5EACC8D5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7460"/>
            <a:ext cx="17145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C641F-CE1A-4AD7-A271-4F77806A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13660"/>
            <a:ext cx="15430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lp_reverse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3B9A7-3187-4573-A377-8935BE86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7460"/>
            <a:ext cx="3429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5F4E1-3B1A-4381-895E-900C8ECD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13660"/>
            <a:ext cx="3257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same mask from x_delta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544C8-E284-4517-8DD5-013344A3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37460"/>
            <a:ext cx="1143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B8B1B-6108-4ACA-9122-C170AD5F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13660"/>
            <a:ext cx="971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CA0A6-C952-43A3-9FF1-8D617B0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7460"/>
            <a:ext cx="51054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6FD23-13E3-4FAA-911C-56D2F3B2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13660"/>
            <a:ext cx="49339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probability of undoing the move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BCF56-FEF2-4B13-A9D7-A468764E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2770"/>
            <a:ext cx="17145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7812C-D543-4B3F-86CA-8361C634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88970"/>
            <a:ext cx="15430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m_term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C2B38-897C-48EE-BE16-5FC24C04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12770"/>
            <a:ext cx="3429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EA672D-4538-4BDC-9663-B42F46B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8970"/>
            <a:ext cx="3257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model(x_delta) - model(x_cur)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8057A7-E6CB-44B8-AD9F-FF50D8E1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12770"/>
            <a:ext cx="1143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FE0D9E-7823-405B-B0A4-920C1E1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88970"/>
            <a:ext cx="971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FE7022-DA0F-457F-BF4B-506A3177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12770"/>
            <a:ext cx="51054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BD85DA-9C6C-4405-8666-F7F164E8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88970"/>
            <a:ext cx="49339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model score difference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289AAA-DB52-4169-BCA9-F3AF68CE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8080"/>
            <a:ext cx="17145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7AC4FF-E8C2-4D41-8E11-986E3E35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764280"/>
            <a:ext cx="15430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7AFAC1-12D4-44B3-9BB9-D77C4A7F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88080"/>
            <a:ext cx="3429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C40F22-F9BF-4FD4-92CB-B634D411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764280"/>
            <a:ext cx="3257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m_term + lp_reverse - lp_forward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16239D-2E98-48D7-8A5E-865B1097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88080"/>
            <a:ext cx="1143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94E5F1-3C06-4B90-B5C3-2246D53E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764280"/>
            <a:ext cx="971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230C46-99E9-4E71-B7E9-E2A860A9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88080"/>
            <a:ext cx="51054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95D277-3EBD-4761-B7BE-563F5DF7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764280"/>
            <a:ext cx="49339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log acceptance ratio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E6F15B-BD24-460C-8F4E-D6D1DFD5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3390"/>
            <a:ext cx="17145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F42598-471F-44B3-89D3-80F91F3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339590"/>
            <a:ext cx="15430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4F1887-91F9-404B-85C3-FB9A2769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63390"/>
            <a:ext cx="3429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84B79E-C2B7-446F-A257-330E9096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39590"/>
            <a:ext cx="3257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la.exp() &gt; rand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6EF6F1-6AD6-483D-99DF-5BD82773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63390"/>
            <a:ext cx="11430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D3DA79-FF44-4C00-854B-064A5A81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339590"/>
            <a:ext cx="9715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D87128-4572-496D-9906-CD315C9B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3390"/>
            <a:ext cx="51054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65DCD6-0E02-42AC-BAF6-59079C6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39590"/>
            <a:ext cx="49339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accept or reject per sample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B6FE67-A850-4445-AC18-78263439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D9214F-4204-4877-B73D-0F1782C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72100"/>
            <a:ext cx="750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x_cur = x_delta * a[:, None] + x_cur * (1. - a[:, None])</a:t>
            </a:r>
          </a:p>
        </p:txBody>
      </p:sp>
    </p:spTree>
    <p:extLst>
      <p:ext uri="{BB962C8B-B14F-4D97-AF65-F5344CB8AC3E}">
        <p14:creationId xmlns:p14="http://schemas.microsoft.com/office/powerpoint/2010/main" val="6317285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279E9-9BAB-4854-A5B3-C8C8B39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TRAINING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7CAD3-7B0B-4D74-8B08-265D3B8F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model learns by separating real scores from fake scores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27167-6FA3-42EB-BBFA-E856CD3A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96702-ED3A-42C9-9C01-C319C2D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FAF10-9C08-41D8-BD62-9B985424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02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82FB5-B137-4B09-8400-A41EE9DC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145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46653-B578-4485-92BC-1F6B25B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02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74784-A6FF-45DA-95A8-D58480E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24A03-94D3-43F2-AD2B-23B0E305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0022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DFBF7-6266-4ACE-9861-0A5AE97B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A38B6-7784-4889-A3F8-245DC681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31050-A5F6-4F37-A106-D8AB5DEA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76450"/>
            <a:ext cx="1714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1F9D8-3EB6-4385-88D5-C7AF2819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52650"/>
            <a:ext cx="15430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score fake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C9245-294F-48F8-89A3-167CA91B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4381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A306A-622A-412A-BDC8-DBD15E4D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52650"/>
            <a:ext cx="42100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logp_fake = model(x_fake).squeeze()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34C99-D573-461F-BEC3-A742F9DC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619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088AB-7B04-4707-ACCF-620F3FAD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52650"/>
            <a:ext cx="1447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114DE-79FC-4A42-90DB-A09AC6D5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3524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3C794-4BEC-4258-AAE8-7BC0D331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52650"/>
            <a:ext cx="335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score generated samples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35801-9528-4D10-9E45-4429BC38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2713"/>
            <a:ext cx="1714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EB968-33F2-4E5B-A487-91B1681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28913"/>
            <a:ext cx="15430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contrast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A1F0E-2D2F-47C6-B9CD-8EF17D64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52713"/>
            <a:ext cx="4381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6D096-AB7D-4374-9A35-B6FD90FA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28913"/>
            <a:ext cx="42100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obj = logp_real.mean() - logp_fake.mean()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5331A-17BB-40DD-9C31-B8131106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52713"/>
            <a:ext cx="1619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DA8D0-E52B-4AE1-8B16-09657552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28913"/>
            <a:ext cx="1447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scalar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3FD90-F2B4-404E-8321-A5E72A2B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52713"/>
            <a:ext cx="3524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DA5798-ADE0-46ED-80CB-680A60BD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28913"/>
            <a:ext cx="335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real high, fake 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FF45C-9D88-4F6C-8AAB-A15DF09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28975"/>
            <a:ext cx="1714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C2A0AD-E3AB-4914-AE5F-156A760B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05175"/>
            <a:ext cx="15430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loss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46A52-1BBA-43C4-BAD6-E3D782DF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28975"/>
            <a:ext cx="4381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4D3EE5-9DAB-4927-BA07-EF5B969D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05175"/>
            <a:ext cx="42100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loss = -obj + regularization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D40FB-2695-4F4F-BC98-430AFD79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1619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0D39C-80F6-4C78-A9BF-E970ED8C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05175"/>
            <a:ext cx="1447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scalar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B7D17-B5A2-4744-AA3C-F0564CD9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28975"/>
            <a:ext cx="3524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152020-6963-4A1A-8DA5-A13325DD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05175"/>
            <a:ext cx="335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minimized objective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6C01A3-7A59-4445-9803-9A3F34F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5238"/>
            <a:ext cx="1714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F51440-711B-4BF9-925B-71C1E4A2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81438"/>
            <a:ext cx="15430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update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5456EB-1464-46AB-B58E-D2A854AE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05238"/>
            <a:ext cx="4381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9CDA7D-70DB-4CC9-AB81-E4605814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81438"/>
            <a:ext cx="42100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loss.backward(); optimizer.step()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3183FF-771D-47A1-92AE-A7C0FE12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5238"/>
            <a:ext cx="1619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B7338F-186C-415C-BBE6-B83CDDFA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81438"/>
            <a:ext cx="1447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params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072CBC-7CC3-4445-BE7A-11352090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05238"/>
            <a:ext cx="35242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7B57A1-9C80-417E-98CB-FD95E438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881438"/>
            <a:ext cx="335280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updates EBM weights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1BAC68-514E-44E9-8F4F-C867077B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71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E1D308-8F09-4BF7-B7B6-A4ED5FF3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41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DMALA produces the negative samples used in the contrastive EBM objective. It is part of training, not only a post-training sampler.</a:t>
            </a:r>
          </a:p>
        </p:txBody>
      </p:sp>
    </p:spTree>
    <p:extLst>
      <p:ext uri="{BB962C8B-B14F-4D97-AF65-F5344CB8AC3E}">
        <p14:creationId xmlns:p14="http://schemas.microsoft.com/office/powerpoint/2010/main" val="66896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896227-541C-44FE-9F45-3EB5B833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SHAPE TRACE, PART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99A74-6085-4FA7-95BF-E2EEB444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From encoded data to a proposed DMALA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30B61-8570-418C-BFA6-3D752E8C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4CFEB-DC33-4D8B-A011-368D3092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76375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5FBFB-6D73-4C8F-A261-929C59FF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62100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52FD9-3C63-487C-9CE8-DE56C62D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7637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D6C43-28A0-4070-9838-8162CBC9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Code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7946C-3384-4733-B828-F880A93C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763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76E61-41C7-48D7-B5A2-8DA7F67C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621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E0761-F8FA-4762-8FFB-10E40A2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76375"/>
            <a:ext cx="576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CADE5-171B-4709-95D1-B2C0FA99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559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9E5F9-9767-48CA-9F5E-DE8334FA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38325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EFA03-EDAD-455B-8300-A415832C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14525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one-hot blocks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03C67-F225-4D66-A6F4-6FC01D99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38325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3857C-C464-43FD-9CA2-D3C50824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14525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A, B,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D7F48-56C6-4B8B-994D-01D31579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38325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ACC63-2E84-476D-B015-779CC72F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14525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(N,2), (N,4), (N,3)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17CF0-0C6D-45BC-877B-44B9B55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38325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7783D-0E9A-40CA-950E-683E6BDF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14525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different cardinalities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74888-10E0-4638-8F88-135F1463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34816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9B912-3799-49FC-AC27-2FCC8D13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11016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flat matrix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D445F-8A77-4648-9448-DA32051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4816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5501F-9C64-4E5A-A8B2-46AB6662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11016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ED63F-7CAA-4FA0-A5D5-75D38F7D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4816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8AB4C-150A-410E-8B35-87D3F1C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1016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(N,9)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AA564F-88BC-4481-8274-A1B86873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4816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871CE-9A02-4231-8863-729BD51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1016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concatenated binary features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0296F9-1188-4B6B-8157-1D1ED467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31306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1E02A-4CED-4536-994F-EDF40F6B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07506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mini-batch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4ADD3F-25A3-4E77-B8E7-A0B82960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1306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2731B1-E1FE-43E4-826E-4E498953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07506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DDF1EA-A8E1-4A53-92BE-712DE764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31306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02EFF8-3F3F-4AE2-921B-662F014A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07506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(2,9)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F2028-A8B3-4A5B-B728-7647D7D6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1306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4D595-EA6E-40DE-A7E7-245B020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07506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real batch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2A33D0-2FFD-4EE8-9AA7-0FFD813C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27797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5E110-9B3E-4863-BE4F-5ED45720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03997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fake start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E573F5-7DBA-4643-88F6-CFBFEB67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27797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C65555-F9BE-4B3A-9D99-8C8F944C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03997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x_fake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6D4273-06D4-48CE-A97F-1ED39828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27797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7BF5A3-861B-4180-9969-FD8BE232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3997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(2,9)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0FF74D-B6A6-453F-9F8E-CE6CE377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27797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0F1610-F9E6-4F61-8EC4-56A2F22A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3997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buffer / reinit 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5A709D-6B2C-4E12-9B6D-652EE7C6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24288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5B9F5C-595B-44F7-BBB2-A3E79D3C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00488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gradient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6EB283-6454-4278-A1BE-1413F4D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24288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717AF3-4266-488C-8A88-FC280A62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00488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gx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819880-C8D9-45CF-8329-C1195091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24288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B125E0-8484-4472-B0FC-E984C7F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0488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(2,9)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F667CF-C247-4FB1-B376-654F5F1D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24288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FBA1CA-6CDD-42E3-9079-7142004A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0488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one gradient per bit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CD1314-9085-40DD-8EC5-36348EEF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20778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38509D-AC93-40D5-B7FD-08A132F4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396978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flip score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5B35A3-9502-4A89-9A0A-21C2627D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0778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8FADB3-D14A-4E74-9AE9-64E00C6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96978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forward_delta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746D4E-7B24-457D-9CC7-80419CCD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0778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3A9315-947D-4DFC-89A1-EF1777D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96978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(2,9)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E3D948-30C6-4E01-A8C5-DC5A0B67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0778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F48A09-DB1E-4049-AF2D-1C17614A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96978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approximate gain from flipping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38D0D35-9C10-46A7-9AAC-C8F7A5E5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7269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D09E5B-D92C-49A6-8E8A-FC14904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893469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flip mask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3BFE97-A8DA-4D0D-AA7A-4395A3DC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7269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D61FA3-76BE-41B9-867F-1AF66E4C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93469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ind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2A1736-FAB2-4E13-AC62-15B73BF6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17269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3639E3-4652-444F-94D5-63D301C8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93469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(2,9)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169590-ABF8-45FA-A358-A37ACAEC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17269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8BCF33-64E3-43EB-AA5A-50E2FC0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93469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selected bits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E012A2-798D-4F9B-8B32-BF0C6B37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13759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B3CA80-43DA-40D8-B8AB-EF7D01FF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89959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proposal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94E766-156E-4CCD-BBB5-5261A099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3759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5C8241-2B05-46CC-9E78-F2EA77BC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89959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x_delta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B2114F4-15A9-40F6-9E2C-59569229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13759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04AEA49-4BA4-43DD-85C9-82F2B0D9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89959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(2,9)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23ACAF-F562-4585-B445-B4BA521F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313759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939C945-55C7-46A1-965A-2E9F9160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89959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proposed fake state</a:t>
            </a:r>
          </a:p>
        </p:txBody>
      </p:sp>
    </p:spTree>
    <p:extLst>
      <p:ext uri="{BB962C8B-B14F-4D97-AF65-F5344CB8AC3E}">
        <p14:creationId xmlns:p14="http://schemas.microsoft.com/office/powerpoint/2010/main" val="12282222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A735C0-7F0B-42C6-81C0-B3D7956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SHAPE TRACE, PART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A2751-669F-48E8-B2E5-BFA56BF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From MH correction to parameter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E5C16-E235-4FEF-8F51-0E815FC6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88320-39D4-4948-AC37-098916DE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76375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F20E2-277B-4EF1-9DCB-39240FF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62100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1A216-69F7-4C14-AA5F-D37A416A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7637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40116-CA1A-4322-8830-73D4807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Code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1B83-D7A3-4E68-BBB8-BB766C3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763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D1ABD-CC6F-40C2-A429-77EA9B3B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621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C84BE-369B-4DF3-AA3A-87A418D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76375"/>
            <a:ext cx="576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63CA0-AF88-419C-9161-677E6EE0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559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CF1C7-5C1F-49B6-8A43-CA2E3908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38325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3F105-24D4-40E2-87F9-FF75B1F1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14525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forward prob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78F58-E0A1-4F63-948D-2E07BBE9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38325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25900-6AFB-4B61-AC5E-27B5AC24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14525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lp_forward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B4DBC-F6C0-4F0D-931D-B695D0BA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38325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D0F3C-C916-4E28-89D2-8B2415B0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14525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C2648-38EE-4322-8907-039AE63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38325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053A1-D84F-44E5-BDD2-EC8B810C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14525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log probability of proposed 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215E9-A4A6-47C2-B593-4CC5A30C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34816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EF3CB-058F-49A0-B717-46A41DFF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11016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reverse prob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87AF6-348B-4030-BE26-9EACEDC2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4816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405C3-9679-468E-81E0-C44154B8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11016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lp_reverse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AF921-EECA-4C75-A0F8-9963B668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4816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8325B-B94C-4B27-8506-A344C553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1016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1C8837-953F-4FC8-9E3B-3D5CDE5D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4816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0032E-1484-4786-A6B2-CA03AB70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1016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log probability of undoing same flips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CA0784-7E6B-40B7-8A2F-089C8B5E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31306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022D8-DB65-4C7E-A6A6-2204C997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07506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score change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748D1-E0BD-441D-8B73-EFEDB37A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1306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9E833-C5C4-4205-9374-8646B7EF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07506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m_term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0EBBED-D4E4-4F83-9B69-9005E9F8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31306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91B07F-7575-49DE-A223-E8FFCDF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07506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B67513-3587-4F2B-82A5-80AAAF80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1306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D573CE-5E38-4645-9529-B3E19679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07506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model(x_delta) - model(x_cur)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14EAF7-838A-4AD6-A1B4-D7435129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27797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4B93F3-725F-4AF0-87AA-820846D0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03997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acceptance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8DEE8C-2CDD-49A1-86DC-CC18494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27797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A55C4D-7F9F-4451-A597-B97287E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03997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la, 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258C9A-B90B-4973-831D-07C8382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27797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A8A62-56DD-4741-9906-5BE593BD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3997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(2,), (2,)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CA032D-BD8C-4B7F-A0AC-F2EB6FF0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27797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50268E-8D55-4F88-87A2-7173F4CA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3997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accept/reject per sample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51D726-490F-4746-870B-EF730825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24288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BB4B96-4501-47AE-B9E1-AC206CC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00488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sampler output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2FDB01-1B14-41D7-9DAB-CC336B9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24288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4880F7-9E94-466E-BF0B-D66D702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00488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x_fake_new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D62BCC-6299-4683-8B2D-F2B5D6DB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24288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50C635-25D6-4302-90BE-08791E6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0488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(2,9)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B83C25-A10B-4F06-9843-B4C832A6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24288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D3DE23-C24A-42C1-9AFF-0E8C86FB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0488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accepted fake batch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820B61-CE5F-47A6-8747-FF3B2579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20778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329019-FDBE-4A28-BAF1-A9AFEE7B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396978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fake score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A5E941-4FE3-459D-A310-BCC86F6A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0778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537014-4211-473C-BE73-5AF8E56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96978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logp_fake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A59839-28DF-47EB-AC39-94E9034A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0778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713967-8B82-4925-B93B-E070E0DE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96978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(2,)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C57F03-1C73-461C-BB8A-28DB6A95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0778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3A5907-7D30-4946-A90B-A7BD751E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96978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score negative samples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782518-6359-4C86-9436-B4E1EEE4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7269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F146E1-4126-49DB-90FD-E650A81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893469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loss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F97004-D329-4C40-831A-FE9DA6ED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7269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D4E26F-C932-4F75-8537-6E2FB157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93469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loss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13B742-B1E0-4518-B3BA-952BF1F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17269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D0D231-008E-43E3-93D7-93B04E28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93469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scalar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A55928-538F-4E69-96AD-3A2D1D3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17269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615356-5885-43FC-89B7-7F8CEACB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93469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contrast real and fake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30AF9B-217B-425A-A6D8-B31497E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13759"/>
            <a:ext cx="166687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ACD5F0-7170-4E9D-A14F-643EA78B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89959"/>
            <a:ext cx="149542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optimizer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C9D71D-BB70-43D3-A41E-C876E1F1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3759"/>
            <a:ext cx="21907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38D257-EE08-4F78-9275-2AAE8272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89959"/>
            <a:ext cx="20193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model.parameters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319B9B-A919-441D-B811-A21E983B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13759"/>
            <a:ext cx="2000250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7FF01B4-A686-4FBF-841A-279E5F3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89959"/>
            <a:ext cx="1828800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params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E55385-BEB8-44CF-BD27-D63B4999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313759"/>
            <a:ext cx="5762625" cy="496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525EBC-F404-463D-A7F5-EDFB8BD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89959"/>
            <a:ext cx="5591175" cy="401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learned EBM weights</a:t>
            </a:r>
          </a:p>
        </p:txBody>
      </p:sp>
    </p:spTree>
    <p:extLst>
      <p:ext uri="{BB962C8B-B14F-4D97-AF65-F5344CB8AC3E}">
        <p14:creationId xmlns:p14="http://schemas.microsoft.com/office/powerpoint/2010/main" val="11932940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42C32A-B904-467E-AC29-158B986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WHAT THIS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1B8C8-F02A-40EF-87EE-B823815E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implementation is valid mechanically but not categorical by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0D980-AEC5-496C-AF4D-C49CEDB3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14C48-9467-4A0A-B24F-7177052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11E2D-AA99-42D4-A858-8193AA1F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526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2FCAE-8301-40C7-9B72-9B4F7237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66562-035E-406E-841F-9CA4F85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52600"/>
            <a:ext cx="668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Concrete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DDB4E-DF81-4C01-A079-621C7569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810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A470E-50DB-4C90-A3F5-709874C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05025"/>
            <a:ext cx="3638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Why no error with different cardinalities?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7145A-5593-4906-BA86-0943FE8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28825"/>
            <a:ext cx="6858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02A33-9EEE-4EE9-85B8-88BAE8E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05025"/>
            <a:ext cx="6686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They are flattened into one rectangular vector.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81CAB-26D0-40E2-A001-701EABDD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5085"/>
            <a:ext cx="3810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23439-EC6E-4BDE-8A22-8E923B01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61285"/>
            <a:ext cx="3638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Which sampler is used?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3A322-D9E2-4566-B43B-605C9D64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85085"/>
            <a:ext cx="6858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1990B-C38D-41D1-A2E2-96D54FB7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61285"/>
            <a:ext cx="6686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dmala -&gt; LangevinSampler(mh=True).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E49F5-DCD3-4B11-BA9C-DE6E2262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1345"/>
            <a:ext cx="3810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E9AA4-1738-4B92-A557-DE35A843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17545"/>
            <a:ext cx="3638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What does DMALA update?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D9173-AFEB-46AC-9704-0542E8EF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1345"/>
            <a:ext cx="6858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76533-0978-4D90-9906-7DA1BEFD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17545"/>
            <a:ext cx="6686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Individual bits in the flat vector, possibly many at once.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C3F31-A8A8-4B34-AC90-03F69006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7605"/>
            <a:ext cx="3810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3CFCC-C05D-4707-AA45-DC564F04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73805"/>
            <a:ext cx="3638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Does it preserve one-hot blocks?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D6895-58A7-4EE2-A924-647F055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7605"/>
            <a:ext cx="6858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26248-8C4A-43BD-8F27-418B4E62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73805"/>
            <a:ext cx="6686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No. It does not use start_index or cat_length.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1191D7-1C59-4C94-9FBD-1580D9E7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3865"/>
            <a:ext cx="3810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172CF-4EAD-4376-A728-E47B6EA5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30065"/>
            <a:ext cx="3638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What would be needed?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89E04-538C-4B46-B775-967099F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53865"/>
            <a:ext cx="6858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CF565-E835-46BD-A8AF-AB4F673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30065"/>
            <a:ext cx="66865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 block-constrained sampler, projection, or validity mask.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09A83-4B8F-49E9-8CA3-796F474A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8FA8D-73A8-49E8-BF0D-293442D8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19725"/>
            <a:ext cx="941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Supervisor-level conclusion: the code can process flattened one-hot data, but generated DMALA states should be checked for categorical validity.</a:t>
            </a:r>
          </a:p>
        </p:txBody>
      </p:sp>
    </p:spTree>
    <p:extLst>
      <p:ext uri="{BB962C8B-B14F-4D97-AF65-F5344CB8AC3E}">
        <p14:creationId xmlns:p14="http://schemas.microsoft.com/office/powerpoint/2010/main" val="964754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2026-07-15T01:13:59.6450000Z</dcterms:created>
  <dcterms:modified xsi:type="dcterms:W3CDTF">2026-07-15T01:13:59.6450000Z</dcterms:modified>
</coreProperties>
</file>